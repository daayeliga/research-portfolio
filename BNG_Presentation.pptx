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
  </p:notesMasterIdLst>
  <p:sldIdLst>
    <p:sldId id="256" r:id="rId2"/>
    <p:sldId id="257" r:id="rId3"/>
    <p:sldId id="258" r:id="rId4"/>
    <p:sldId id="259" r:id="rId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4" d="100"/>
          <a:sy n="84"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27825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F6B"/>
        </a:solidFill>
        <a:effectLst/>
      </p:bgPr>
    </p:bg>
    <p:spTree>
      <p:nvGrpSpPr>
        <p:cNvPr id="1" name=""/>
        <p:cNvGrpSpPr/>
        <p:nvPr/>
      </p:nvGrpSpPr>
      <p:grpSpPr>
        <a:xfrm>
          <a:off x="0" y="0"/>
          <a:ext cx="0" cy="0"/>
          <a:chOff x="0" y="0"/>
          <a:chExt cx="0" cy="0"/>
        </a:xfrm>
      </p:grpSpPr>
      <p:sp>
        <p:nvSpPr>
          <p:cNvPr id="2" name="Shape 0"/>
          <p:cNvSpPr/>
          <p:nvPr/>
        </p:nvSpPr>
        <p:spPr>
          <a:xfrm>
            <a:off x="6949440" y="0"/>
            <a:ext cx="2194560" cy="73152"/>
          </a:xfrm>
          <a:prstGeom prst="rect">
            <a:avLst/>
          </a:prstGeom>
          <a:solidFill>
            <a:srgbClr val="F5C800"/>
          </a:solidFill>
          <a:ln w="12700">
            <a:solidFill>
              <a:srgbClr val="F5C800"/>
            </a:solidFill>
            <a:prstDash val="solid"/>
          </a:ln>
        </p:spPr>
        <p:txBody>
          <a:bodyPr/>
          <a:lstStyle/>
          <a:p>
            <a:endParaRPr lang="en-GB"/>
          </a:p>
        </p:txBody>
      </p:sp>
      <p:sp>
        <p:nvSpPr>
          <p:cNvPr id="3" name="Text 1"/>
          <p:cNvSpPr/>
          <p:nvPr/>
        </p:nvSpPr>
        <p:spPr>
          <a:xfrm>
            <a:off x="502920" y="292608"/>
            <a:ext cx="5486400" cy="201168"/>
          </a:xfrm>
          <a:prstGeom prst="rect">
            <a:avLst/>
          </a:prstGeom>
          <a:noFill/>
          <a:ln/>
        </p:spPr>
        <p:txBody>
          <a:bodyPr wrap="square" lIns="0" tIns="0" rIns="0" bIns="0" rtlCol="0" anchor="ctr"/>
          <a:lstStyle/>
          <a:p>
            <a:pPr marL="0" indent="0" algn="l">
              <a:buNone/>
            </a:pPr>
            <a:r>
              <a:rPr lang="en-US" sz="850" b="1" kern="0" spc="200" dirty="0">
                <a:solidFill>
                  <a:srgbClr val="F5C800"/>
                </a:solidFill>
                <a:latin typeface="Calibri" pitchFamily="34" charset="0"/>
                <a:ea typeface="Calibri" pitchFamily="34" charset="-122"/>
                <a:cs typeface="Calibri" pitchFamily="34" charset="-120"/>
              </a:rPr>
              <a:t>RESEARCH INTERNSHIP · ANALYTICAL BRIEF</a:t>
            </a:r>
            <a:endParaRPr lang="en-US" sz="850" dirty="0"/>
          </a:p>
        </p:txBody>
      </p:sp>
      <p:sp>
        <p:nvSpPr>
          <p:cNvPr id="4" name="Text 2"/>
          <p:cNvSpPr/>
          <p:nvPr/>
        </p:nvSpPr>
        <p:spPr>
          <a:xfrm>
            <a:off x="502920" y="594360"/>
            <a:ext cx="8229600" cy="658368"/>
          </a:xfrm>
          <a:prstGeom prst="rect">
            <a:avLst/>
          </a:prstGeom>
          <a:noFill/>
          <a:ln/>
        </p:spPr>
        <p:txBody>
          <a:bodyPr wrap="square" lIns="0" tIns="0" rIns="0" bIns="0" rtlCol="0" anchor="ctr"/>
          <a:lstStyle/>
          <a:p>
            <a:pPr marL="0" indent="0" algn="l">
              <a:buNone/>
            </a:pPr>
            <a:r>
              <a:rPr lang="en-US" sz="3800" b="1" dirty="0">
                <a:solidFill>
                  <a:srgbClr val="FFFFFF"/>
                </a:solidFill>
                <a:latin typeface="Cambria" pitchFamily="34" charset="0"/>
                <a:ea typeface="Cambria" pitchFamily="34" charset="-122"/>
                <a:cs typeface="Cambria" pitchFamily="34" charset="-120"/>
              </a:rPr>
              <a:t>UK Biodiversity Net Gain:</a:t>
            </a:r>
            <a:endParaRPr lang="en-US" sz="3800" dirty="0"/>
          </a:p>
        </p:txBody>
      </p:sp>
      <p:sp>
        <p:nvSpPr>
          <p:cNvPr id="5" name="Text 3"/>
          <p:cNvSpPr/>
          <p:nvPr/>
        </p:nvSpPr>
        <p:spPr>
          <a:xfrm>
            <a:off x="502920" y="1188720"/>
            <a:ext cx="8229600" cy="548640"/>
          </a:xfrm>
          <a:prstGeom prst="rect">
            <a:avLst/>
          </a:prstGeom>
          <a:noFill/>
          <a:ln/>
        </p:spPr>
        <p:txBody>
          <a:bodyPr wrap="square" lIns="0" tIns="0" rIns="0" bIns="0" rtlCol="0" anchor="ctr"/>
          <a:lstStyle/>
          <a:p>
            <a:pPr marL="0" indent="0" algn="l">
              <a:buNone/>
            </a:pPr>
            <a:r>
              <a:rPr lang="en-US" sz="2800" dirty="0">
                <a:solidFill>
                  <a:srgbClr val="C5C8E8"/>
                </a:solidFill>
                <a:latin typeface="Cambria" pitchFamily="34" charset="0"/>
                <a:ea typeface="Cambria" pitchFamily="34" charset="-122"/>
                <a:cs typeface="Cambria" pitchFamily="34" charset="-120"/>
              </a:rPr>
              <a:t>Commercial Viability &amp; India Scalability</a:t>
            </a:r>
            <a:endParaRPr lang="en-US" sz="2800" dirty="0"/>
          </a:p>
        </p:txBody>
      </p:sp>
      <p:sp>
        <p:nvSpPr>
          <p:cNvPr id="6" name="Shape 4"/>
          <p:cNvSpPr/>
          <p:nvPr/>
        </p:nvSpPr>
        <p:spPr>
          <a:xfrm>
            <a:off x="502920" y="1920240"/>
            <a:ext cx="1097280" cy="50292"/>
          </a:xfrm>
          <a:prstGeom prst="rect">
            <a:avLst/>
          </a:prstGeom>
          <a:solidFill>
            <a:srgbClr val="F5C800"/>
          </a:solidFill>
          <a:ln w="12700">
            <a:solidFill>
              <a:srgbClr val="F5C800"/>
            </a:solidFill>
            <a:prstDash val="solid"/>
          </a:ln>
        </p:spPr>
        <p:txBody>
          <a:bodyPr/>
          <a:lstStyle/>
          <a:p>
            <a:endParaRPr lang="en-GB"/>
          </a:p>
        </p:txBody>
      </p:sp>
      <p:sp>
        <p:nvSpPr>
          <p:cNvPr id="7" name="Shape 5"/>
          <p:cNvSpPr/>
          <p:nvPr/>
        </p:nvSpPr>
        <p:spPr>
          <a:xfrm>
            <a:off x="502920" y="2148840"/>
            <a:ext cx="5120640" cy="1755648"/>
          </a:xfrm>
          <a:prstGeom prst="roundRect">
            <a:avLst>
              <a:gd name="adj" fmla="val 3125"/>
            </a:avLst>
          </a:prstGeom>
          <a:solidFill>
            <a:srgbClr val="232880"/>
          </a:solidFill>
          <a:ln w="12700">
            <a:solidFill>
              <a:srgbClr val="2E3696"/>
            </a:solidFill>
            <a:prstDash val="solid"/>
          </a:ln>
          <a:effectLst>
            <a:outerShdw blurRad="101600" dist="25400" dir="2700000" algn="bl" rotWithShape="0">
              <a:srgbClr val="000000">
                <a:alpha val="8000"/>
              </a:srgbClr>
            </a:outerShdw>
          </a:effectLst>
        </p:spPr>
        <p:txBody>
          <a:bodyPr/>
          <a:lstStyle/>
          <a:p>
            <a:endParaRPr lang="en-GB"/>
          </a:p>
        </p:txBody>
      </p:sp>
      <p:sp>
        <p:nvSpPr>
          <p:cNvPr id="8" name="Text 6"/>
          <p:cNvSpPr/>
          <p:nvPr/>
        </p:nvSpPr>
        <p:spPr>
          <a:xfrm>
            <a:off x="731520" y="2267712"/>
            <a:ext cx="4663440" cy="201168"/>
          </a:xfrm>
          <a:prstGeom prst="rect">
            <a:avLst/>
          </a:prstGeom>
          <a:noFill/>
          <a:ln/>
        </p:spPr>
        <p:txBody>
          <a:bodyPr wrap="square" lIns="0" tIns="0" rIns="0" bIns="0" rtlCol="0" anchor="ctr"/>
          <a:lstStyle/>
          <a:p>
            <a:pPr marL="0" indent="0" algn="l">
              <a:buNone/>
            </a:pPr>
            <a:r>
              <a:rPr lang="en-US" sz="800" b="1" kern="0" spc="150" dirty="0">
                <a:solidFill>
                  <a:srgbClr val="F5C800"/>
                </a:solidFill>
                <a:latin typeface="Calibri" pitchFamily="34" charset="0"/>
                <a:ea typeface="Calibri" pitchFamily="34" charset="-122"/>
                <a:cs typeface="Calibri" pitchFamily="34" charset="-120"/>
              </a:rPr>
              <a:t>RECOMMENDATION</a:t>
            </a:r>
            <a:endParaRPr lang="en-US" sz="800" dirty="0"/>
          </a:p>
        </p:txBody>
      </p:sp>
      <p:sp>
        <p:nvSpPr>
          <p:cNvPr id="9" name="Text 7"/>
          <p:cNvSpPr/>
          <p:nvPr/>
        </p:nvSpPr>
        <p:spPr>
          <a:xfrm>
            <a:off x="731520" y="2496312"/>
            <a:ext cx="4663440" cy="1280160"/>
          </a:xfrm>
          <a:prstGeom prst="rect">
            <a:avLst/>
          </a:prstGeom>
          <a:noFill/>
          <a:ln/>
        </p:spPr>
        <p:txBody>
          <a:bodyPr wrap="square" lIns="0" tIns="0" rIns="0" bIns="0" rtlCol="0" anchor="t"/>
          <a:lstStyle/>
          <a:p>
            <a:pPr marL="0" indent="0" algn="l">
              <a:buNone/>
            </a:pPr>
            <a:r>
              <a:rPr lang="en-US" sz="1050" dirty="0">
                <a:solidFill>
                  <a:srgbClr val="C5C8E8"/>
                </a:solidFill>
                <a:latin typeface="Calibri" pitchFamily="34" charset="0"/>
                <a:ea typeface="Calibri" pitchFamily="34" charset="-122"/>
                <a:cs typeface="Calibri" pitchFamily="34" charset="-120"/>
              </a:rPr>
              <a:t>Do not replicate the UK private habitat bank model in India. Instead, ICfS should champion a Compliance-PPP Transition Model — mobilising CSR and compensatory afforestation capital through private ecological intermediaries partnered with State Forest Departments. India has the regulatory architecture, buyer base, and degraded land inventory to support an analogous model, but design must reflect what Indian regulation currently permits.</a:t>
            </a:r>
            <a:endParaRPr lang="en-US" sz="1050" dirty="0"/>
          </a:p>
        </p:txBody>
      </p:sp>
      <p:sp>
        <p:nvSpPr>
          <p:cNvPr id="10" name="Shape 8"/>
          <p:cNvSpPr/>
          <p:nvPr/>
        </p:nvSpPr>
        <p:spPr>
          <a:xfrm>
            <a:off x="5943600" y="2148840"/>
            <a:ext cx="2880360" cy="402336"/>
          </a:xfrm>
          <a:prstGeom prst="roundRect">
            <a:avLst>
              <a:gd name="adj" fmla="val 11364"/>
            </a:avLst>
          </a:prstGeom>
          <a:solidFill>
            <a:srgbClr val="232880"/>
          </a:solidFill>
          <a:ln w="12700">
            <a:solidFill>
              <a:srgbClr val="2E3696"/>
            </a:solidFill>
            <a:prstDash val="solid"/>
          </a:ln>
          <a:effectLst>
            <a:outerShdw blurRad="101600" dist="25400" dir="2700000" algn="bl" rotWithShape="0">
              <a:srgbClr val="000000">
                <a:alpha val="8000"/>
              </a:srgbClr>
            </a:outerShdw>
          </a:effectLst>
        </p:spPr>
        <p:txBody>
          <a:bodyPr/>
          <a:lstStyle/>
          <a:p>
            <a:endParaRPr lang="en-GB"/>
          </a:p>
        </p:txBody>
      </p:sp>
      <p:sp>
        <p:nvSpPr>
          <p:cNvPr id="11" name="Text 9"/>
          <p:cNvSpPr/>
          <p:nvPr/>
        </p:nvSpPr>
        <p:spPr>
          <a:xfrm>
            <a:off x="6080760" y="2185416"/>
            <a:ext cx="1005840" cy="329184"/>
          </a:xfrm>
          <a:prstGeom prst="rect">
            <a:avLst/>
          </a:prstGeom>
          <a:noFill/>
          <a:ln/>
        </p:spPr>
        <p:txBody>
          <a:bodyPr wrap="square" lIns="0" tIns="0" rIns="0" bIns="0" rtlCol="0" anchor="ctr"/>
          <a:lstStyle/>
          <a:p>
            <a:pPr marL="0" indent="0" algn="l">
              <a:buNone/>
            </a:pPr>
            <a:r>
              <a:rPr lang="en-US" sz="1800" b="1" dirty="0">
                <a:solidFill>
                  <a:srgbClr val="F5C800"/>
                </a:solidFill>
                <a:latin typeface="Cambria" pitchFamily="34" charset="0"/>
                <a:ea typeface="Cambria" pitchFamily="34" charset="-122"/>
                <a:cs typeface="Cambria" pitchFamily="34" charset="-120"/>
              </a:rPr>
              <a:t>267%</a:t>
            </a:r>
            <a:endParaRPr lang="en-US" sz="1800" dirty="0"/>
          </a:p>
        </p:txBody>
      </p:sp>
      <p:sp>
        <p:nvSpPr>
          <p:cNvPr id="12" name="Text 10"/>
          <p:cNvSpPr/>
          <p:nvPr/>
        </p:nvSpPr>
        <p:spPr>
          <a:xfrm>
            <a:off x="7132320" y="2185416"/>
            <a:ext cx="1600200" cy="329184"/>
          </a:xfrm>
          <a:prstGeom prst="rect">
            <a:avLst/>
          </a:prstGeom>
          <a:noFill/>
          <a:ln/>
        </p:spPr>
        <p:txBody>
          <a:bodyPr wrap="square" lIns="0" tIns="0" rIns="0" bIns="0" rtlCol="0" anchor="ctr"/>
          <a:lstStyle/>
          <a:p>
            <a:pPr marL="0" indent="0" algn="l">
              <a:buNone/>
            </a:pPr>
            <a:r>
              <a:rPr lang="en-US" sz="850" dirty="0">
                <a:solidFill>
                  <a:srgbClr val="9AA0D0"/>
                </a:solidFill>
                <a:latin typeface="Calibri" pitchFamily="34" charset="0"/>
                <a:ea typeface="Calibri" pitchFamily="34" charset="-122"/>
                <a:cs typeface="Calibri" pitchFamily="34" charset="-120"/>
              </a:rPr>
              <a:t>Area net gain achieved</a:t>
            </a:r>
            <a:endParaRPr lang="en-US" sz="850" dirty="0"/>
          </a:p>
        </p:txBody>
      </p:sp>
      <p:sp>
        <p:nvSpPr>
          <p:cNvPr id="13" name="Shape 11"/>
          <p:cNvSpPr/>
          <p:nvPr/>
        </p:nvSpPr>
        <p:spPr>
          <a:xfrm>
            <a:off x="5943600" y="2615184"/>
            <a:ext cx="2880360" cy="402336"/>
          </a:xfrm>
          <a:prstGeom prst="roundRect">
            <a:avLst>
              <a:gd name="adj" fmla="val 11364"/>
            </a:avLst>
          </a:prstGeom>
          <a:solidFill>
            <a:srgbClr val="232880"/>
          </a:solidFill>
          <a:ln w="12700">
            <a:solidFill>
              <a:srgbClr val="2E3696"/>
            </a:solidFill>
            <a:prstDash val="solid"/>
          </a:ln>
          <a:effectLst>
            <a:outerShdw blurRad="101600" dist="25400" dir="2700000" algn="bl" rotWithShape="0">
              <a:srgbClr val="000000">
                <a:alpha val="8000"/>
              </a:srgbClr>
            </a:outerShdw>
          </a:effectLst>
        </p:spPr>
        <p:txBody>
          <a:bodyPr/>
          <a:lstStyle/>
          <a:p>
            <a:endParaRPr lang="en-GB"/>
          </a:p>
        </p:txBody>
      </p:sp>
      <p:sp>
        <p:nvSpPr>
          <p:cNvPr id="14" name="Text 12"/>
          <p:cNvSpPr/>
          <p:nvPr/>
        </p:nvSpPr>
        <p:spPr>
          <a:xfrm>
            <a:off x="6080760" y="2651760"/>
            <a:ext cx="1005840" cy="329184"/>
          </a:xfrm>
          <a:prstGeom prst="rect">
            <a:avLst/>
          </a:prstGeom>
          <a:noFill/>
          <a:ln/>
        </p:spPr>
        <p:txBody>
          <a:bodyPr wrap="square" lIns="0" tIns="0" rIns="0" bIns="0" rtlCol="0" anchor="ctr"/>
          <a:lstStyle/>
          <a:p>
            <a:pPr marL="0" indent="0" algn="l">
              <a:buNone/>
            </a:pPr>
            <a:r>
              <a:rPr lang="en-US" sz="1800" b="1" dirty="0">
                <a:solidFill>
                  <a:srgbClr val="F5C800"/>
                </a:solidFill>
                <a:latin typeface="Cambria" pitchFamily="34" charset="0"/>
                <a:ea typeface="Cambria" pitchFamily="34" charset="-122"/>
                <a:cs typeface="Cambria" pitchFamily="34" charset="-120"/>
              </a:rPr>
              <a:t>260.94</a:t>
            </a:r>
            <a:endParaRPr lang="en-US" sz="1800" dirty="0"/>
          </a:p>
        </p:txBody>
      </p:sp>
      <p:sp>
        <p:nvSpPr>
          <p:cNvPr id="15" name="Text 13"/>
          <p:cNvSpPr/>
          <p:nvPr/>
        </p:nvSpPr>
        <p:spPr>
          <a:xfrm>
            <a:off x="7132320" y="2651760"/>
            <a:ext cx="1600200" cy="329184"/>
          </a:xfrm>
          <a:prstGeom prst="rect">
            <a:avLst/>
          </a:prstGeom>
          <a:noFill/>
          <a:ln/>
        </p:spPr>
        <p:txBody>
          <a:bodyPr wrap="square" lIns="0" tIns="0" rIns="0" bIns="0" rtlCol="0" anchor="ctr"/>
          <a:lstStyle/>
          <a:p>
            <a:pPr marL="0" indent="0" algn="l">
              <a:buNone/>
            </a:pPr>
            <a:r>
              <a:rPr lang="en-US" sz="850" dirty="0">
                <a:solidFill>
                  <a:srgbClr val="9AA0D0"/>
                </a:solidFill>
                <a:latin typeface="Calibri" pitchFamily="34" charset="0"/>
                <a:ea typeface="Calibri" pitchFamily="34" charset="-122"/>
                <a:cs typeface="Calibri" pitchFamily="34" charset="-120"/>
              </a:rPr>
              <a:t>Surplus BNG units available</a:t>
            </a:r>
            <a:endParaRPr lang="en-US" sz="850" dirty="0"/>
          </a:p>
        </p:txBody>
      </p:sp>
      <p:sp>
        <p:nvSpPr>
          <p:cNvPr id="16" name="Shape 14"/>
          <p:cNvSpPr/>
          <p:nvPr/>
        </p:nvSpPr>
        <p:spPr>
          <a:xfrm>
            <a:off x="5943600" y="3081528"/>
            <a:ext cx="2880360" cy="402336"/>
          </a:xfrm>
          <a:prstGeom prst="roundRect">
            <a:avLst>
              <a:gd name="adj" fmla="val 11364"/>
            </a:avLst>
          </a:prstGeom>
          <a:solidFill>
            <a:srgbClr val="232880"/>
          </a:solidFill>
          <a:ln w="12700">
            <a:solidFill>
              <a:srgbClr val="2E3696"/>
            </a:solidFill>
            <a:prstDash val="solid"/>
          </a:ln>
          <a:effectLst>
            <a:outerShdw blurRad="101600" dist="25400" dir="2700000" algn="bl" rotWithShape="0">
              <a:srgbClr val="000000">
                <a:alpha val="8000"/>
              </a:srgbClr>
            </a:outerShdw>
          </a:effectLst>
        </p:spPr>
        <p:txBody>
          <a:bodyPr/>
          <a:lstStyle/>
          <a:p>
            <a:endParaRPr lang="en-GB"/>
          </a:p>
        </p:txBody>
      </p:sp>
      <p:sp>
        <p:nvSpPr>
          <p:cNvPr id="17" name="Text 15"/>
          <p:cNvSpPr/>
          <p:nvPr/>
        </p:nvSpPr>
        <p:spPr>
          <a:xfrm>
            <a:off x="6080760" y="3118104"/>
            <a:ext cx="1005840" cy="329184"/>
          </a:xfrm>
          <a:prstGeom prst="rect">
            <a:avLst/>
          </a:prstGeom>
          <a:noFill/>
          <a:ln/>
        </p:spPr>
        <p:txBody>
          <a:bodyPr wrap="square" lIns="0" tIns="0" rIns="0" bIns="0" rtlCol="0" anchor="ctr"/>
          <a:lstStyle/>
          <a:p>
            <a:pPr marL="0" indent="0" algn="l">
              <a:buNone/>
            </a:pPr>
            <a:r>
              <a:rPr lang="en-US" sz="1800" b="1" dirty="0">
                <a:solidFill>
                  <a:srgbClr val="F5C800"/>
                </a:solidFill>
                <a:latin typeface="Cambria" pitchFamily="34" charset="0"/>
                <a:ea typeface="Cambria" pitchFamily="34" charset="-122"/>
                <a:cs typeface="Cambria" pitchFamily="34" charset="-120"/>
              </a:rPr>
              <a:t>£5.22m</a:t>
            </a:r>
            <a:endParaRPr lang="en-US" sz="1800" dirty="0"/>
          </a:p>
        </p:txBody>
      </p:sp>
      <p:sp>
        <p:nvSpPr>
          <p:cNvPr id="18" name="Text 16"/>
          <p:cNvSpPr/>
          <p:nvPr/>
        </p:nvSpPr>
        <p:spPr>
          <a:xfrm>
            <a:off x="7132320" y="3118104"/>
            <a:ext cx="1600200" cy="329184"/>
          </a:xfrm>
          <a:prstGeom prst="rect">
            <a:avLst/>
          </a:prstGeom>
          <a:noFill/>
          <a:ln/>
        </p:spPr>
        <p:txBody>
          <a:bodyPr wrap="square" lIns="0" tIns="0" rIns="0" bIns="0" rtlCol="0" anchor="ctr"/>
          <a:lstStyle/>
          <a:p>
            <a:pPr marL="0" indent="0" algn="l">
              <a:buNone/>
            </a:pPr>
            <a:r>
              <a:rPr lang="en-US" sz="850" dirty="0">
                <a:solidFill>
                  <a:srgbClr val="9AA0D0"/>
                </a:solidFill>
                <a:latin typeface="Calibri" pitchFamily="34" charset="0"/>
                <a:ea typeface="Calibri" pitchFamily="34" charset="-122"/>
                <a:cs typeface="Calibri" pitchFamily="34" charset="-120"/>
              </a:rPr>
              <a:t>Year 3 base revenue</a:t>
            </a:r>
            <a:endParaRPr lang="en-US" sz="850" dirty="0"/>
          </a:p>
        </p:txBody>
      </p:sp>
      <p:sp>
        <p:nvSpPr>
          <p:cNvPr id="19" name="Shape 17"/>
          <p:cNvSpPr/>
          <p:nvPr/>
        </p:nvSpPr>
        <p:spPr>
          <a:xfrm>
            <a:off x="5943600" y="3547872"/>
            <a:ext cx="2880360" cy="402336"/>
          </a:xfrm>
          <a:prstGeom prst="roundRect">
            <a:avLst>
              <a:gd name="adj" fmla="val 11364"/>
            </a:avLst>
          </a:prstGeom>
          <a:solidFill>
            <a:srgbClr val="2A3B00"/>
          </a:solidFill>
          <a:ln w="12700">
            <a:solidFill>
              <a:srgbClr val="4CAF50"/>
            </a:solidFill>
            <a:prstDash val="solid"/>
          </a:ln>
          <a:effectLst>
            <a:outerShdw blurRad="101600" dist="25400" dir="2700000" algn="bl" rotWithShape="0">
              <a:srgbClr val="000000">
                <a:alpha val="8000"/>
              </a:srgbClr>
            </a:outerShdw>
          </a:effectLst>
        </p:spPr>
        <p:txBody>
          <a:bodyPr/>
          <a:lstStyle/>
          <a:p>
            <a:endParaRPr lang="en-GB"/>
          </a:p>
        </p:txBody>
      </p:sp>
      <p:sp>
        <p:nvSpPr>
          <p:cNvPr id="20" name="Text 18"/>
          <p:cNvSpPr/>
          <p:nvPr/>
        </p:nvSpPr>
        <p:spPr>
          <a:xfrm>
            <a:off x="6080760" y="3584448"/>
            <a:ext cx="1005840" cy="329184"/>
          </a:xfrm>
          <a:prstGeom prst="rect">
            <a:avLst/>
          </a:prstGeom>
          <a:noFill/>
          <a:ln/>
        </p:spPr>
        <p:txBody>
          <a:bodyPr wrap="square" lIns="0" tIns="0" rIns="0" bIns="0" rtlCol="0" anchor="ctr"/>
          <a:lstStyle/>
          <a:p>
            <a:pPr marL="0" indent="0" algn="l">
              <a:buNone/>
            </a:pPr>
            <a:r>
              <a:rPr lang="en-US" sz="1800" b="1" dirty="0">
                <a:solidFill>
                  <a:srgbClr val="8BC34A"/>
                </a:solidFill>
                <a:latin typeface="Cambria" pitchFamily="34" charset="0"/>
                <a:ea typeface="Cambria" pitchFamily="34" charset="-122"/>
                <a:cs typeface="Cambria" pitchFamily="34" charset="-120"/>
              </a:rPr>
              <a:t>34.2%</a:t>
            </a:r>
            <a:endParaRPr lang="en-US" sz="1800" dirty="0"/>
          </a:p>
        </p:txBody>
      </p:sp>
      <p:sp>
        <p:nvSpPr>
          <p:cNvPr id="21" name="Text 19"/>
          <p:cNvSpPr/>
          <p:nvPr/>
        </p:nvSpPr>
        <p:spPr>
          <a:xfrm>
            <a:off x="7132320" y="3584448"/>
            <a:ext cx="1600200" cy="329184"/>
          </a:xfrm>
          <a:prstGeom prst="rect">
            <a:avLst/>
          </a:prstGeom>
          <a:noFill/>
          <a:ln/>
        </p:spPr>
        <p:txBody>
          <a:bodyPr wrap="square" lIns="0" tIns="0" rIns="0" bIns="0" rtlCol="0" anchor="ctr"/>
          <a:lstStyle/>
          <a:p>
            <a:pPr marL="0" indent="0" algn="l">
              <a:buNone/>
            </a:pPr>
            <a:r>
              <a:rPr lang="en-US" sz="850" dirty="0">
                <a:solidFill>
                  <a:srgbClr val="9AA0D0"/>
                </a:solidFill>
                <a:latin typeface="Calibri" pitchFamily="34" charset="0"/>
                <a:ea typeface="Calibri" pitchFamily="34" charset="-122"/>
                <a:cs typeface="Calibri" pitchFamily="34" charset="-120"/>
              </a:rPr>
              <a:t>India CAGR projection to 2036</a:t>
            </a:r>
            <a:endParaRPr lang="en-US" sz="850" dirty="0"/>
          </a:p>
        </p:txBody>
      </p:sp>
      <p:sp>
        <p:nvSpPr>
          <p:cNvPr id="22" name="Text 20"/>
          <p:cNvSpPr/>
          <p:nvPr/>
        </p:nvSpPr>
        <p:spPr>
          <a:xfrm>
            <a:off x="502920" y="4828032"/>
            <a:ext cx="8229600" cy="201168"/>
          </a:xfrm>
          <a:prstGeom prst="rect">
            <a:avLst/>
          </a:prstGeom>
          <a:noFill/>
          <a:ln/>
        </p:spPr>
        <p:txBody>
          <a:bodyPr wrap="square" lIns="0" tIns="0" rIns="0" bIns="0" rtlCol="0" anchor="ctr"/>
          <a:lstStyle/>
          <a:p>
            <a:pPr marL="0" indent="0" algn="l">
              <a:buNone/>
            </a:pPr>
            <a:r>
              <a:rPr lang="en-US" sz="800" dirty="0">
                <a:solidFill>
                  <a:srgbClr val="6B72A8"/>
                </a:solidFill>
                <a:latin typeface="Calibri" pitchFamily="34" charset="0"/>
                <a:ea typeface="Calibri" pitchFamily="34" charset="-122"/>
                <a:cs typeface="Calibri" pitchFamily="34" charset="-120"/>
              </a:rPr>
              <a:t>David Ayuuya Ayeliga  ·  19 June 2026  ·  Prepared for Sachin Nandha, Director General, ICfS</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F5C800"/>
          </a:solidFill>
          <a:ln w="12700">
            <a:solidFill>
              <a:srgbClr val="F5C800"/>
            </a:solidFill>
            <a:prstDash val="solid"/>
          </a:ln>
        </p:spPr>
        <p:txBody>
          <a:bodyPr/>
          <a:lstStyle/>
          <a:p>
            <a:endParaRPr lang="en-GB"/>
          </a:p>
        </p:txBody>
      </p:sp>
      <p:sp>
        <p:nvSpPr>
          <p:cNvPr id="3" name="Text 1"/>
          <p:cNvSpPr/>
          <p:nvPr/>
        </p:nvSpPr>
        <p:spPr>
          <a:xfrm>
            <a:off x="457200" y="201168"/>
            <a:ext cx="8229600" cy="182880"/>
          </a:xfrm>
          <a:prstGeom prst="rect">
            <a:avLst/>
          </a:prstGeom>
          <a:noFill/>
          <a:ln/>
        </p:spPr>
        <p:txBody>
          <a:bodyPr wrap="square" lIns="0" tIns="0" rIns="0" bIns="0" rtlCol="0" anchor="ctr"/>
          <a:lstStyle/>
          <a:p>
            <a:pPr marL="0" indent="0" algn="l">
              <a:buNone/>
            </a:pPr>
            <a:r>
              <a:rPr lang="en-US" sz="800" b="1" kern="0" spc="150" dirty="0">
                <a:solidFill>
                  <a:srgbClr val="888888"/>
                </a:solidFill>
                <a:latin typeface="Calibri" pitchFamily="34" charset="0"/>
                <a:ea typeface="Calibri" pitchFamily="34" charset="-122"/>
                <a:cs typeface="Calibri" pitchFamily="34" charset="-120"/>
              </a:rPr>
              <a:t>02  ·  BUSINESS MODEL &amp; REVENUE LOGIC</a:t>
            </a:r>
            <a:endParaRPr lang="en-US" sz="800" dirty="0"/>
          </a:p>
        </p:txBody>
      </p:sp>
      <p:sp>
        <p:nvSpPr>
          <p:cNvPr id="4" name="Text 2"/>
          <p:cNvSpPr/>
          <p:nvPr/>
        </p:nvSpPr>
        <p:spPr>
          <a:xfrm>
            <a:off x="457200" y="457200"/>
            <a:ext cx="8321040" cy="658368"/>
          </a:xfrm>
          <a:prstGeom prst="rect">
            <a:avLst/>
          </a:prstGeom>
          <a:noFill/>
          <a:ln/>
        </p:spPr>
        <p:txBody>
          <a:bodyPr wrap="square" lIns="0" tIns="0" rIns="0" bIns="0" rtlCol="0" anchor="ctr"/>
          <a:lstStyle/>
          <a:p>
            <a:pPr marL="0" indent="0" algn="l">
              <a:buNone/>
            </a:pPr>
            <a:r>
              <a:rPr lang="en-US" sz="2600" b="1" dirty="0">
                <a:solidFill>
                  <a:srgbClr val="1A1F6B"/>
                </a:solidFill>
                <a:latin typeface="Cambria" pitchFamily="34" charset="0"/>
                <a:ea typeface="Cambria" pitchFamily="34" charset="-122"/>
                <a:cs typeface="Cambria" pitchFamily="34" charset="-120"/>
              </a:rPr>
              <a:t>How the model works — and why it is commercially credible</a:t>
            </a:r>
            <a:endParaRPr lang="en-US" sz="2600" dirty="0"/>
          </a:p>
        </p:txBody>
      </p:sp>
      <p:sp>
        <p:nvSpPr>
          <p:cNvPr id="5" name="Shape 3"/>
          <p:cNvSpPr/>
          <p:nvPr/>
        </p:nvSpPr>
        <p:spPr>
          <a:xfrm>
            <a:off x="457200" y="1298448"/>
            <a:ext cx="365760" cy="365760"/>
          </a:xfrm>
          <a:prstGeom prst="ellipse">
            <a:avLst/>
          </a:prstGeom>
          <a:solidFill>
            <a:srgbClr val="1A1F6B"/>
          </a:solidFill>
          <a:ln w="12700">
            <a:solidFill>
              <a:srgbClr val="1A1F6B"/>
            </a:solidFill>
            <a:prstDash val="solid"/>
          </a:ln>
        </p:spPr>
        <p:txBody>
          <a:bodyPr/>
          <a:lstStyle/>
          <a:p>
            <a:endParaRPr lang="en-GB"/>
          </a:p>
        </p:txBody>
      </p:sp>
      <p:sp>
        <p:nvSpPr>
          <p:cNvPr id="6" name="Text 4"/>
          <p:cNvSpPr/>
          <p:nvPr/>
        </p:nvSpPr>
        <p:spPr>
          <a:xfrm>
            <a:off x="457200" y="1298448"/>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7" name="Text 5"/>
          <p:cNvSpPr/>
          <p:nvPr/>
        </p:nvSpPr>
        <p:spPr>
          <a:xfrm>
            <a:off x="960120" y="1271016"/>
            <a:ext cx="3383280" cy="274320"/>
          </a:xfrm>
          <a:prstGeom prst="rect">
            <a:avLst/>
          </a:prstGeom>
          <a:noFill/>
          <a:ln/>
        </p:spPr>
        <p:txBody>
          <a:bodyPr wrap="square" lIns="0" tIns="0" rIns="0" bIns="0" rtlCol="0" anchor="ctr"/>
          <a:lstStyle/>
          <a:p>
            <a:pPr marL="0" indent="0" algn="l">
              <a:buNone/>
            </a:pPr>
            <a:r>
              <a:rPr lang="en-US" sz="1200" b="1" dirty="0">
                <a:solidFill>
                  <a:srgbClr val="1A1F6B"/>
                </a:solidFill>
                <a:latin typeface="Calibri" pitchFamily="34" charset="0"/>
                <a:ea typeface="Calibri" pitchFamily="34" charset="-122"/>
                <a:cs typeface="Calibri" pitchFamily="34" charset="-120"/>
              </a:rPr>
              <a:t>Restore degraded land</a:t>
            </a:r>
            <a:endParaRPr lang="en-US" sz="1200" dirty="0"/>
          </a:p>
        </p:txBody>
      </p:sp>
      <p:sp>
        <p:nvSpPr>
          <p:cNvPr id="8" name="Text 6"/>
          <p:cNvSpPr/>
          <p:nvPr/>
        </p:nvSpPr>
        <p:spPr>
          <a:xfrm>
            <a:off x="960120" y="1572768"/>
            <a:ext cx="3383280" cy="685800"/>
          </a:xfrm>
          <a:prstGeom prst="rect">
            <a:avLst/>
          </a:prstGeom>
          <a:noFill/>
          <a:ln/>
        </p:spPr>
        <p:txBody>
          <a:bodyPr wrap="square" lIns="0" tIns="0" rIns="0" bIns="0" rtlCol="0" anchor="t"/>
          <a:lstStyle/>
          <a:p>
            <a:pPr marL="0" indent="0" algn="l">
              <a:buNone/>
            </a:pPr>
            <a:r>
              <a:rPr lang="en-US" sz="950" dirty="0">
                <a:solidFill>
                  <a:srgbClr val="555555"/>
                </a:solidFill>
                <a:latin typeface="Calibri" pitchFamily="34" charset="0"/>
                <a:ea typeface="Calibri" pitchFamily="34" charset="-122"/>
                <a:cs typeface="Calibri" pitchFamily="34" charset="-120"/>
              </a:rPr>
              <a:t>Partner with landowners to convert low-value land — modified grassland, arable margins — into higher-value habitats: neutral grassland, scrub, woodland.</a:t>
            </a:r>
            <a:endParaRPr lang="en-US" sz="950" dirty="0"/>
          </a:p>
        </p:txBody>
      </p:sp>
      <p:sp>
        <p:nvSpPr>
          <p:cNvPr id="9" name="Shape 7"/>
          <p:cNvSpPr/>
          <p:nvPr/>
        </p:nvSpPr>
        <p:spPr>
          <a:xfrm>
            <a:off x="635508" y="1664208"/>
            <a:ext cx="0" cy="749808"/>
          </a:xfrm>
          <a:prstGeom prst="line">
            <a:avLst/>
          </a:prstGeom>
          <a:noFill/>
          <a:ln w="15240">
            <a:solidFill>
              <a:srgbClr val="C5C8E8"/>
            </a:solidFill>
            <a:prstDash val="dash"/>
          </a:ln>
        </p:spPr>
        <p:txBody>
          <a:bodyPr/>
          <a:lstStyle/>
          <a:p>
            <a:endParaRPr lang="en-GB"/>
          </a:p>
        </p:txBody>
      </p:sp>
      <p:sp>
        <p:nvSpPr>
          <p:cNvPr id="10" name="Shape 8"/>
          <p:cNvSpPr/>
          <p:nvPr/>
        </p:nvSpPr>
        <p:spPr>
          <a:xfrm>
            <a:off x="457200" y="2414016"/>
            <a:ext cx="365760" cy="365760"/>
          </a:xfrm>
          <a:prstGeom prst="ellipse">
            <a:avLst/>
          </a:prstGeom>
          <a:solidFill>
            <a:srgbClr val="1A1F6B"/>
          </a:solidFill>
          <a:ln w="12700">
            <a:solidFill>
              <a:srgbClr val="1A1F6B"/>
            </a:solidFill>
            <a:prstDash val="solid"/>
          </a:ln>
        </p:spPr>
        <p:txBody>
          <a:bodyPr/>
          <a:lstStyle/>
          <a:p>
            <a:endParaRPr lang="en-GB"/>
          </a:p>
        </p:txBody>
      </p:sp>
      <p:sp>
        <p:nvSpPr>
          <p:cNvPr id="11" name="Text 9"/>
          <p:cNvSpPr/>
          <p:nvPr/>
        </p:nvSpPr>
        <p:spPr>
          <a:xfrm>
            <a:off x="457200" y="2414016"/>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2" name="Text 10"/>
          <p:cNvSpPr/>
          <p:nvPr/>
        </p:nvSpPr>
        <p:spPr>
          <a:xfrm>
            <a:off x="960120" y="2386584"/>
            <a:ext cx="3383280" cy="274320"/>
          </a:xfrm>
          <a:prstGeom prst="rect">
            <a:avLst/>
          </a:prstGeom>
          <a:noFill/>
          <a:ln/>
        </p:spPr>
        <p:txBody>
          <a:bodyPr wrap="square" lIns="0" tIns="0" rIns="0" bIns="0" rtlCol="0" anchor="ctr"/>
          <a:lstStyle/>
          <a:p>
            <a:pPr marL="0" indent="0" algn="l">
              <a:buNone/>
            </a:pPr>
            <a:r>
              <a:rPr lang="en-US" sz="1200" b="1" dirty="0">
                <a:solidFill>
                  <a:srgbClr val="1A1F6B"/>
                </a:solidFill>
                <a:latin typeface="Calibri" pitchFamily="34" charset="0"/>
                <a:ea typeface="Calibri" pitchFamily="34" charset="-122"/>
                <a:cs typeface="Calibri" pitchFamily="34" charset="-120"/>
              </a:rPr>
              <a:t>Measure biodiversity uplift</a:t>
            </a:r>
            <a:endParaRPr lang="en-US" sz="1200" dirty="0"/>
          </a:p>
        </p:txBody>
      </p:sp>
      <p:sp>
        <p:nvSpPr>
          <p:cNvPr id="13" name="Text 11"/>
          <p:cNvSpPr/>
          <p:nvPr/>
        </p:nvSpPr>
        <p:spPr>
          <a:xfrm>
            <a:off x="960120" y="2688336"/>
            <a:ext cx="3383280" cy="685800"/>
          </a:xfrm>
          <a:prstGeom prst="rect">
            <a:avLst/>
          </a:prstGeom>
          <a:noFill/>
          <a:ln/>
        </p:spPr>
        <p:txBody>
          <a:bodyPr wrap="square" lIns="0" tIns="0" rIns="0" bIns="0" rtlCol="0" anchor="t"/>
          <a:lstStyle/>
          <a:p>
            <a:pPr marL="0" indent="0" algn="l">
              <a:buNone/>
            </a:pPr>
            <a:r>
              <a:rPr lang="en-US" sz="950" dirty="0">
                <a:solidFill>
                  <a:srgbClr val="555555"/>
                </a:solidFill>
                <a:latin typeface="Calibri" pitchFamily="34" charset="0"/>
                <a:ea typeface="Calibri" pitchFamily="34" charset="-122"/>
                <a:cs typeface="Calibri" pitchFamily="34" charset="-120"/>
              </a:rPr>
              <a:t>Apply the statutory DEFRA Biodiversity Metric. The 50 ha site modelled yields 260.94 surplus units above the mandatory 10% threshold — a 234.95% overall biodiversity net gain (267.43 net units on area habitats alone).</a:t>
            </a:r>
            <a:endParaRPr lang="en-US" sz="950" dirty="0"/>
          </a:p>
        </p:txBody>
      </p:sp>
      <p:sp>
        <p:nvSpPr>
          <p:cNvPr id="14" name="Shape 12"/>
          <p:cNvSpPr/>
          <p:nvPr/>
        </p:nvSpPr>
        <p:spPr>
          <a:xfrm>
            <a:off x="635508" y="2779776"/>
            <a:ext cx="0" cy="749808"/>
          </a:xfrm>
          <a:prstGeom prst="line">
            <a:avLst/>
          </a:prstGeom>
          <a:noFill/>
          <a:ln w="15240">
            <a:solidFill>
              <a:srgbClr val="C5C8E8"/>
            </a:solidFill>
            <a:prstDash val="dash"/>
          </a:ln>
        </p:spPr>
        <p:txBody>
          <a:bodyPr/>
          <a:lstStyle/>
          <a:p>
            <a:endParaRPr lang="en-GB"/>
          </a:p>
        </p:txBody>
      </p:sp>
      <p:sp>
        <p:nvSpPr>
          <p:cNvPr id="15" name="Shape 13"/>
          <p:cNvSpPr/>
          <p:nvPr/>
        </p:nvSpPr>
        <p:spPr>
          <a:xfrm>
            <a:off x="457200" y="3529584"/>
            <a:ext cx="365760" cy="365760"/>
          </a:xfrm>
          <a:prstGeom prst="ellipse">
            <a:avLst/>
          </a:prstGeom>
          <a:solidFill>
            <a:srgbClr val="1A1F6B"/>
          </a:solidFill>
          <a:ln w="12700">
            <a:solidFill>
              <a:srgbClr val="1A1F6B"/>
            </a:solidFill>
            <a:prstDash val="solid"/>
          </a:ln>
        </p:spPr>
        <p:txBody>
          <a:bodyPr/>
          <a:lstStyle/>
          <a:p>
            <a:endParaRPr lang="en-GB"/>
          </a:p>
        </p:txBody>
      </p:sp>
      <p:sp>
        <p:nvSpPr>
          <p:cNvPr id="16" name="Text 14"/>
          <p:cNvSpPr/>
          <p:nvPr/>
        </p:nvSpPr>
        <p:spPr>
          <a:xfrm>
            <a:off x="457200" y="3529584"/>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7" name="Text 15"/>
          <p:cNvSpPr/>
          <p:nvPr/>
        </p:nvSpPr>
        <p:spPr>
          <a:xfrm>
            <a:off x="960120" y="3502152"/>
            <a:ext cx="3383280" cy="274320"/>
          </a:xfrm>
          <a:prstGeom prst="rect">
            <a:avLst/>
          </a:prstGeom>
          <a:noFill/>
          <a:ln/>
        </p:spPr>
        <p:txBody>
          <a:bodyPr wrap="square" lIns="0" tIns="0" rIns="0" bIns="0" rtlCol="0" anchor="ctr"/>
          <a:lstStyle/>
          <a:p>
            <a:pPr marL="0" indent="0" algn="l">
              <a:buNone/>
            </a:pPr>
            <a:r>
              <a:rPr lang="en-US" sz="1200" b="1" dirty="0">
                <a:solidFill>
                  <a:srgbClr val="1A1F6B"/>
                </a:solidFill>
                <a:latin typeface="Calibri" pitchFamily="34" charset="0"/>
                <a:ea typeface="Calibri" pitchFamily="34" charset="-122"/>
                <a:cs typeface="Calibri" pitchFamily="34" charset="-120"/>
              </a:rPr>
              <a:t>Sell compliance units to developers</a:t>
            </a:r>
            <a:endParaRPr lang="en-US" sz="1200" dirty="0"/>
          </a:p>
        </p:txBody>
      </p:sp>
      <p:sp>
        <p:nvSpPr>
          <p:cNvPr id="18" name="Text 16"/>
          <p:cNvSpPr/>
          <p:nvPr/>
        </p:nvSpPr>
        <p:spPr>
          <a:xfrm>
            <a:off x="960120" y="3803904"/>
            <a:ext cx="3383280" cy="685800"/>
          </a:xfrm>
          <a:prstGeom prst="rect">
            <a:avLst/>
          </a:prstGeom>
          <a:noFill/>
          <a:ln/>
        </p:spPr>
        <p:txBody>
          <a:bodyPr wrap="square" lIns="0" tIns="0" rIns="0" bIns="0" rtlCol="0" anchor="t"/>
          <a:lstStyle/>
          <a:p>
            <a:pPr marL="0" indent="0" algn="l">
              <a:buNone/>
            </a:pPr>
            <a:r>
              <a:rPr lang="en-US" sz="950" dirty="0">
                <a:solidFill>
                  <a:srgbClr val="555555"/>
                </a:solidFill>
                <a:latin typeface="Calibri" pitchFamily="34" charset="0"/>
                <a:ea typeface="Calibri" pitchFamily="34" charset="-122"/>
                <a:cs typeface="Calibri" pitchFamily="34" charset="-120"/>
              </a:rPr>
              <a:t>Developers legally cannot build without a Biodiversity Gain Plan. Statutory credits — the fallback — cost £42,000+ per unit, sustaining a private market band of £20,000–£35,000.</a:t>
            </a:r>
            <a:endParaRPr lang="en-US" sz="950" dirty="0"/>
          </a:p>
        </p:txBody>
      </p:sp>
      <p:sp>
        <p:nvSpPr>
          <p:cNvPr id="19" name="Shape 17"/>
          <p:cNvSpPr/>
          <p:nvPr/>
        </p:nvSpPr>
        <p:spPr>
          <a:xfrm>
            <a:off x="4800600" y="1298448"/>
            <a:ext cx="3931920" cy="868680"/>
          </a:xfrm>
          <a:prstGeom prst="roundRect">
            <a:avLst>
              <a:gd name="adj" fmla="val 6316"/>
            </a:avLst>
          </a:prstGeom>
          <a:solidFill>
            <a:srgbClr val="1A1F6B"/>
          </a:solidFill>
          <a:ln w="12700">
            <a:solidFill>
              <a:srgbClr val="1A1F6B"/>
            </a:solidFill>
            <a:prstDash val="solid"/>
          </a:ln>
          <a:effectLst>
            <a:outerShdw blurRad="101600" dist="25400" dir="2700000" algn="bl" rotWithShape="0">
              <a:srgbClr val="000000">
                <a:alpha val="8000"/>
              </a:srgbClr>
            </a:outerShdw>
          </a:effectLst>
        </p:spPr>
        <p:txBody>
          <a:bodyPr/>
          <a:lstStyle/>
          <a:p>
            <a:endParaRPr lang="en-GB"/>
          </a:p>
        </p:txBody>
      </p:sp>
      <p:sp>
        <p:nvSpPr>
          <p:cNvPr id="20" name="Text 18"/>
          <p:cNvSpPr/>
          <p:nvPr/>
        </p:nvSpPr>
        <p:spPr>
          <a:xfrm>
            <a:off x="4983480" y="1389888"/>
            <a:ext cx="3657600" cy="201168"/>
          </a:xfrm>
          <a:prstGeom prst="rect">
            <a:avLst/>
          </a:prstGeom>
          <a:noFill/>
          <a:ln/>
        </p:spPr>
        <p:txBody>
          <a:bodyPr wrap="square" lIns="0" tIns="0" rIns="0" bIns="0" rtlCol="0" anchor="ctr"/>
          <a:lstStyle/>
          <a:p>
            <a:pPr marL="0" indent="0" algn="l">
              <a:buNone/>
            </a:pPr>
            <a:r>
              <a:rPr lang="en-US" sz="900" b="1" dirty="0">
                <a:solidFill>
                  <a:srgbClr val="F5C800"/>
                </a:solidFill>
                <a:latin typeface="Calibri" pitchFamily="34" charset="0"/>
                <a:ea typeface="Calibri" pitchFamily="34" charset="-122"/>
                <a:cs typeface="Calibri" pitchFamily="34" charset="-120"/>
              </a:rPr>
              <a:t>BNG Unit Sales</a:t>
            </a:r>
            <a:endParaRPr lang="en-US" sz="900" dirty="0"/>
          </a:p>
        </p:txBody>
      </p:sp>
      <p:sp>
        <p:nvSpPr>
          <p:cNvPr id="21" name="Text 19"/>
          <p:cNvSpPr/>
          <p:nvPr/>
        </p:nvSpPr>
        <p:spPr>
          <a:xfrm>
            <a:off x="4983480" y="1572768"/>
            <a:ext cx="3657600" cy="320040"/>
          </a:xfrm>
          <a:prstGeom prst="rect">
            <a:avLst/>
          </a:prstGeom>
          <a:noFill/>
          <a:ln/>
        </p:spPr>
        <p:txBody>
          <a:bodyPr wrap="square" lIns="0" tIns="0" rIns="0" bIns="0" rtlCol="0" anchor="ctr"/>
          <a:lstStyle/>
          <a:p>
            <a:pPr marL="0" indent="0" algn="l">
              <a:buNone/>
            </a:pPr>
            <a:r>
              <a:rPr lang="en-US" sz="2200" b="1" dirty="0">
                <a:solidFill>
                  <a:srgbClr val="FFFFFF"/>
                </a:solidFill>
                <a:latin typeface="Cambria" pitchFamily="34" charset="0"/>
                <a:ea typeface="Cambria" pitchFamily="34" charset="-122"/>
                <a:cs typeface="Cambria" pitchFamily="34" charset="-120"/>
              </a:rPr>
              <a:t>£5.22m</a:t>
            </a:r>
            <a:endParaRPr lang="en-US" sz="2200" dirty="0"/>
          </a:p>
        </p:txBody>
      </p:sp>
      <p:sp>
        <p:nvSpPr>
          <p:cNvPr id="22" name="Text 20"/>
          <p:cNvSpPr/>
          <p:nvPr/>
        </p:nvSpPr>
        <p:spPr>
          <a:xfrm>
            <a:off x="4983480" y="1911096"/>
            <a:ext cx="3657600" cy="182880"/>
          </a:xfrm>
          <a:prstGeom prst="rect">
            <a:avLst/>
          </a:prstGeom>
          <a:noFill/>
          <a:ln/>
        </p:spPr>
        <p:txBody>
          <a:bodyPr wrap="square" lIns="0" tIns="0" rIns="0" bIns="0" rtlCol="0" anchor="ctr"/>
          <a:lstStyle/>
          <a:p>
            <a:pPr marL="0" indent="0" algn="l">
              <a:buNone/>
            </a:pPr>
            <a:r>
              <a:rPr lang="en-US" sz="850" dirty="0">
                <a:solidFill>
                  <a:srgbClr val="9AA0D0"/>
                </a:solidFill>
                <a:latin typeface="Calibri" pitchFamily="34" charset="0"/>
                <a:ea typeface="Calibri" pitchFamily="34" charset="-122"/>
                <a:cs typeface="Calibri" pitchFamily="34" charset="-120"/>
              </a:rPr>
              <a:t>Year 3 base case (260.94 units × £20k)</a:t>
            </a:r>
            <a:endParaRPr lang="en-US" sz="850" dirty="0"/>
          </a:p>
        </p:txBody>
      </p:sp>
      <p:sp>
        <p:nvSpPr>
          <p:cNvPr id="23" name="Shape 21"/>
          <p:cNvSpPr/>
          <p:nvPr/>
        </p:nvSpPr>
        <p:spPr>
          <a:xfrm>
            <a:off x="4800600" y="2286000"/>
            <a:ext cx="3931920" cy="868680"/>
          </a:xfrm>
          <a:prstGeom prst="roundRect">
            <a:avLst>
              <a:gd name="adj" fmla="val 6316"/>
            </a:avLst>
          </a:prstGeom>
          <a:solidFill>
            <a:srgbClr val="F7F8FF"/>
          </a:solidFill>
          <a:ln w="12700">
            <a:solidFill>
              <a:srgbClr val="DDE0F0"/>
            </a:solidFill>
            <a:prstDash val="solid"/>
          </a:ln>
          <a:effectLst>
            <a:outerShdw blurRad="101600" dist="25400" dir="2700000" algn="bl" rotWithShape="0">
              <a:srgbClr val="000000">
                <a:alpha val="8000"/>
              </a:srgbClr>
            </a:outerShdw>
          </a:effectLst>
        </p:spPr>
        <p:txBody>
          <a:bodyPr/>
          <a:lstStyle/>
          <a:p>
            <a:endParaRPr lang="en-GB"/>
          </a:p>
        </p:txBody>
      </p:sp>
      <p:sp>
        <p:nvSpPr>
          <p:cNvPr id="24" name="Text 22"/>
          <p:cNvSpPr/>
          <p:nvPr/>
        </p:nvSpPr>
        <p:spPr>
          <a:xfrm>
            <a:off x="4983480" y="2377440"/>
            <a:ext cx="3657600" cy="201168"/>
          </a:xfrm>
          <a:prstGeom prst="rect">
            <a:avLst/>
          </a:prstGeom>
          <a:noFill/>
          <a:ln/>
        </p:spPr>
        <p:txBody>
          <a:bodyPr wrap="square" lIns="0" tIns="0" rIns="0" bIns="0" rtlCol="0" anchor="ctr"/>
          <a:lstStyle/>
          <a:p>
            <a:pPr marL="0" indent="0" algn="l">
              <a:buNone/>
            </a:pPr>
            <a:r>
              <a:rPr lang="en-US" sz="900" b="1" dirty="0">
                <a:solidFill>
                  <a:srgbClr val="1A1F6B"/>
                </a:solidFill>
                <a:latin typeface="Calibri" pitchFamily="34" charset="0"/>
                <a:ea typeface="Calibri" pitchFamily="34" charset="-122"/>
                <a:cs typeface="Calibri" pitchFamily="34" charset="-120"/>
              </a:rPr>
              <a:t>Base case cumulative 5-yr position</a:t>
            </a:r>
            <a:endParaRPr lang="en-US" sz="900" dirty="0"/>
          </a:p>
        </p:txBody>
      </p:sp>
      <p:sp>
        <p:nvSpPr>
          <p:cNvPr id="25" name="Text 23"/>
          <p:cNvSpPr/>
          <p:nvPr/>
        </p:nvSpPr>
        <p:spPr>
          <a:xfrm>
            <a:off x="4983480" y="2560320"/>
            <a:ext cx="3657600" cy="320040"/>
          </a:xfrm>
          <a:prstGeom prst="rect">
            <a:avLst/>
          </a:prstGeom>
          <a:noFill/>
          <a:ln/>
        </p:spPr>
        <p:txBody>
          <a:bodyPr wrap="square" lIns="0" tIns="0" rIns="0" bIns="0" rtlCol="0" anchor="ctr"/>
          <a:lstStyle/>
          <a:p>
            <a:pPr marL="0" indent="0" algn="l">
              <a:buNone/>
            </a:pPr>
            <a:r>
              <a:rPr lang="en-US" sz="2200" b="1" dirty="0">
                <a:solidFill>
                  <a:srgbClr val="1A1F6B"/>
                </a:solidFill>
                <a:latin typeface="Cambria" pitchFamily="34" charset="0"/>
                <a:ea typeface="Cambria" pitchFamily="34" charset="-122"/>
                <a:cs typeface="Cambria" pitchFamily="34" charset="-120"/>
              </a:rPr>
              <a:t>£15.46m</a:t>
            </a:r>
            <a:endParaRPr lang="en-US" sz="2200" dirty="0"/>
          </a:p>
        </p:txBody>
      </p:sp>
      <p:sp>
        <p:nvSpPr>
          <p:cNvPr id="26" name="Text 24"/>
          <p:cNvSpPr/>
          <p:nvPr/>
        </p:nvSpPr>
        <p:spPr>
          <a:xfrm>
            <a:off x="4983480" y="2898648"/>
            <a:ext cx="3657600" cy="182880"/>
          </a:xfrm>
          <a:prstGeom prst="rect">
            <a:avLst/>
          </a:prstGeom>
          <a:noFill/>
          <a:ln/>
        </p:spPr>
        <p:txBody>
          <a:bodyPr wrap="square" lIns="0" tIns="0" rIns="0" bIns="0" rtlCol="0" anchor="ctr"/>
          <a:lstStyle/>
          <a:p>
            <a:pPr marL="0" indent="0" algn="l">
              <a:buNone/>
            </a:pPr>
            <a:r>
              <a:rPr lang="en-US" sz="850" dirty="0">
                <a:solidFill>
                  <a:srgbClr val="888888"/>
                </a:solidFill>
                <a:latin typeface="Calibri" pitchFamily="34" charset="0"/>
                <a:ea typeface="Calibri" pitchFamily="34" charset="-122"/>
                <a:cs typeface="Calibri" pitchFamily="34" charset="-120"/>
              </a:rPr>
              <a:t>Against £475k in total 5-yr costs</a:t>
            </a:r>
            <a:endParaRPr lang="en-US" sz="850" dirty="0"/>
          </a:p>
        </p:txBody>
      </p:sp>
      <p:sp>
        <p:nvSpPr>
          <p:cNvPr id="27" name="Shape 25"/>
          <p:cNvSpPr/>
          <p:nvPr/>
        </p:nvSpPr>
        <p:spPr>
          <a:xfrm>
            <a:off x="4800600" y="3273552"/>
            <a:ext cx="3931920" cy="868680"/>
          </a:xfrm>
          <a:prstGeom prst="roundRect">
            <a:avLst>
              <a:gd name="adj" fmla="val 6316"/>
            </a:avLst>
          </a:prstGeom>
          <a:solidFill>
            <a:srgbClr val="F7F8FF"/>
          </a:solidFill>
          <a:ln w="12700">
            <a:solidFill>
              <a:srgbClr val="DDE0F0"/>
            </a:solidFill>
            <a:prstDash val="solid"/>
          </a:ln>
          <a:effectLst>
            <a:outerShdw blurRad="101600" dist="25400" dir="2700000" algn="bl" rotWithShape="0">
              <a:srgbClr val="000000">
                <a:alpha val="8000"/>
              </a:srgbClr>
            </a:outerShdw>
          </a:effectLst>
        </p:spPr>
        <p:txBody>
          <a:bodyPr/>
          <a:lstStyle/>
          <a:p>
            <a:endParaRPr lang="en-GB"/>
          </a:p>
        </p:txBody>
      </p:sp>
      <p:sp>
        <p:nvSpPr>
          <p:cNvPr id="28" name="Text 26"/>
          <p:cNvSpPr/>
          <p:nvPr/>
        </p:nvSpPr>
        <p:spPr>
          <a:xfrm>
            <a:off x="4983480" y="3364992"/>
            <a:ext cx="3657600" cy="201168"/>
          </a:xfrm>
          <a:prstGeom prst="rect">
            <a:avLst/>
          </a:prstGeom>
          <a:noFill/>
          <a:ln/>
        </p:spPr>
        <p:txBody>
          <a:bodyPr wrap="square" lIns="0" tIns="0" rIns="0" bIns="0" rtlCol="0" anchor="ctr"/>
          <a:lstStyle/>
          <a:p>
            <a:pPr marL="0" indent="0" algn="l">
              <a:buNone/>
            </a:pPr>
            <a:r>
              <a:rPr lang="en-US" sz="900" b="1" dirty="0">
                <a:solidFill>
                  <a:srgbClr val="1A1F6B"/>
                </a:solidFill>
                <a:latin typeface="Calibri" pitchFamily="34" charset="0"/>
                <a:ea typeface="Calibri" pitchFamily="34" charset="-122"/>
                <a:cs typeface="Calibri" pitchFamily="34" charset="-120"/>
              </a:rPr>
              <a:t>Downside cumulative 5-yr position</a:t>
            </a:r>
            <a:endParaRPr lang="en-US" sz="900" dirty="0"/>
          </a:p>
        </p:txBody>
      </p:sp>
      <p:sp>
        <p:nvSpPr>
          <p:cNvPr id="29" name="Text 27"/>
          <p:cNvSpPr/>
          <p:nvPr/>
        </p:nvSpPr>
        <p:spPr>
          <a:xfrm>
            <a:off x="4983480" y="3547872"/>
            <a:ext cx="3657600" cy="320040"/>
          </a:xfrm>
          <a:prstGeom prst="rect">
            <a:avLst/>
          </a:prstGeom>
          <a:noFill/>
          <a:ln/>
        </p:spPr>
        <p:txBody>
          <a:bodyPr wrap="square" lIns="0" tIns="0" rIns="0" bIns="0" rtlCol="0" anchor="ctr"/>
          <a:lstStyle/>
          <a:p>
            <a:pPr marL="0" indent="0" algn="l">
              <a:buNone/>
            </a:pPr>
            <a:r>
              <a:rPr lang="en-US" sz="2200" b="1" dirty="0">
                <a:solidFill>
                  <a:srgbClr val="1A1F6B"/>
                </a:solidFill>
                <a:latin typeface="Cambria" pitchFamily="34" charset="0"/>
                <a:ea typeface="Cambria" pitchFamily="34" charset="-122"/>
                <a:cs typeface="Cambria" pitchFamily="34" charset="-120"/>
              </a:rPr>
              <a:t>£5.92m</a:t>
            </a:r>
            <a:endParaRPr lang="en-US" sz="2200" dirty="0"/>
          </a:p>
        </p:txBody>
      </p:sp>
      <p:sp>
        <p:nvSpPr>
          <p:cNvPr id="30" name="Text 28"/>
          <p:cNvSpPr/>
          <p:nvPr/>
        </p:nvSpPr>
        <p:spPr>
          <a:xfrm>
            <a:off x="4983480" y="3886200"/>
            <a:ext cx="3657600" cy="182880"/>
          </a:xfrm>
          <a:prstGeom prst="rect">
            <a:avLst/>
          </a:prstGeom>
          <a:noFill/>
          <a:ln/>
        </p:spPr>
        <p:txBody>
          <a:bodyPr wrap="square" lIns="0" tIns="0" rIns="0" bIns="0" rtlCol="0" anchor="ctr"/>
          <a:lstStyle/>
          <a:p>
            <a:pPr marL="0" indent="0" algn="l">
              <a:buNone/>
            </a:pPr>
            <a:r>
              <a:rPr lang="en-US" sz="850" dirty="0">
                <a:solidFill>
                  <a:srgbClr val="888888"/>
                </a:solidFill>
                <a:latin typeface="Calibri" pitchFamily="34" charset="0"/>
                <a:ea typeface="Calibri" pitchFamily="34" charset="-122"/>
                <a:cs typeface="Calibri" pitchFamily="34" charset="-120"/>
              </a:rPr>
              <a:t>£12k/unit, Year 4; +20% opex — still net positive</a:t>
            </a:r>
            <a:endParaRPr lang="en-US" sz="850" dirty="0"/>
          </a:p>
        </p:txBody>
      </p:sp>
      <p:sp>
        <p:nvSpPr>
          <p:cNvPr id="31" name="Shape 29"/>
          <p:cNvSpPr/>
          <p:nvPr/>
        </p:nvSpPr>
        <p:spPr>
          <a:xfrm>
            <a:off x="4800600" y="4297680"/>
            <a:ext cx="3931920" cy="658368"/>
          </a:xfrm>
          <a:prstGeom prst="roundRect">
            <a:avLst>
              <a:gd name="adj" fmla="val 8333"/>
            </a:avLst>
          </a:prstGeom>
          <a:solidFill>
            <a:srgbClr val="FFFDE7"/>
          </a:solidFill>
          <a:ln w="12700">
            <a:solidFill>
              <a:srgbClr val="F5C800"/>
            </a:solidFill>
            <a:prstDash val="solid"/>
          </a:ln>
        </p:spPr>
        <p:txBody>
          <a:bodyPr/>
          <a:lstStyle/>
          <a:p>
            <a:endParaRPr lang="en-GB"/>
          </a:p>
        </p:txBody>
      </p:sp>
      <p:sp>
        <p:nvSpPr>
          <p:cNvPr id="32" name="Text 30"/>
          <p:cNvSpPr/>
          <p:nvPr/>
        </p:nvSpPr>
        <p:spPr>
          <a:xfrm>
            <a:off x="4956048" y="4352544"/>
            <a:ext cx="3657600" cy="548640"/>
          </a:xfrm>
          <a:prstGeom prst="rect">
            <a:avLst/>
          </a:prstGeom>
          <a:noFill/>
          <a:ln/>
        </p:spPr>
        <p:txBody>
          <a:bodyPr wrap="square" lIns="0" tIns="0" rIns="0" bIns="0" rtlCol="0" anchor="t"/>
          <a:lstStyle/>
          <a:p>
            <a:pPr marL="0" indent="0" algn="l">
              <a:buNone/>
            </a:pPr>
            <a:r>
              <a:rPr lang="en-US" sz="850" dirty="0">
                <a:solidFill>
                  <a:srgbClr val="5D4037"/>
                </a:solidFill>
                <a:latin typeface="Calibri" pitchFamily="34" charset="0"/>
                <a:ea typeface="Calibri" pitchFamily="34" charset="-122"/>
                <a:cs typeface="Calibri" pitchFamily="34" charset="-120"/>
              </a:rPr>
              <a:t>Market validation:  Environment Bank attracted £325m in private capital by July 2025 across 93 habitat banks. Annual off-site demand: 7,500–8,000 units. Average unit price: £31,434 — ahead of our base case.</a:t>
            </a:r>
            <a:endParaRPr lang="en-US" sz="850" dirty="0"/>
          </a:p>
        </p:txBody>
      </p:sp>
      <p:sp>
        <p:nvSpPr>
          <p:cNvPr id="33" name="Shape 31"/>
          <p:cNvSpPr/>
          <p:nvPr/>
        </p:nvSpPr>
        <p:spPr>
          <a:xfrm>
            <a:off x="457200" y="4974336"/>
            <a:ext cx="8229600" cy="0"/>
          </a:xfrm>
          <a:prstGeom prst="line">
            <a:avLst/>
          </a:prstGeom>
          <a:noFill/>
          <a:ln w="6350">
            <a:solidFill>
              <a:srgbClr val="DDE0F0"/>
            </a:solidFill>
            <a:prstDash val="solid"/>
          </a:ln>
        </p:spPr>
        <p:txBody>
          <a:bodyPr/>
          <a:lstStyle/>
          <a:p>
            <a:endParaRPr lang="en-GB"/>
          </a:p>
        </p:txBody>
      </p:sp>
      <p:sp>
        <p:nvSpPr>
          <p:cNvPr id="34" name="Text 32"/>
          <p:cNvSpPr/>
          <p:nvPr/>
        </p:nvSpPr>
        <p:spPr>
          <a:xfrm>
            <a:off x="457200" y="5001768"/>
            <a:ext cx="8229600" cy="137160"/>
          </a:xfrm>
          <a:prstGeom prst="rect">
            <a:avLst/>
          </a:prstGeom>
          <a:noFill/>
          <a:ln/>
        </p:spPr>
        <p:txBody>
          <a:bodyPr wrap="square" lIns="0" tIns="0" rIns="0" bIns="0" rtlCol="0" anchor="ctr"/>
          <a:lstStyle/>
          <a:p>
            <a:pPr marL="0" indent="0" algn="l">
              <a:buNone/>
            </a:pPr>
            <a:r>
              <a:rPr lang="en-US" sz="700" dirty="0">
                <a:solidFill>
                  <a:srgbClr val="888888"/>
                </a:solidFill>
                <a:latin typeface="Calibri" pitchFamily="34" charset="0"/>
                <a:ea typeface="Calibri" pitchFamily="34" charset="-122"/>
                <a:cs typeface="Calibri" pitchFamily="34" charset="-120"/>
              </a:rPr>
              <a:t>Source: BNG Industry Report (July 2025); DEFRA BNG Market Analysis (2021); ESG BNG Report (2026); ICfS BNG Financial Model</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1A1F6B"/>
          </a:solidFill>
          <a:ln w="12700">
            <a:solidFill>
              <a:srgbClr val="1A1F6B"/>
            </a:solidFill>
            <a:prstDash val="solid"/>
          </a:ln>
        </p:spPr>
        <p:txBody>
          <a:bodyPr/>
          <a:lstStyle/>
          <a:p>
            <a:endParaRPr lang="en-GB"/>
          </a:p>
        </p:txBody>
      </p:sp>
      <p:sp>
        <p:nvSpPr>
          <p:cNvPr id="3" name="Text 1"/>
          <p:cNvSpPr/>
          <p:nvPr/>
        </p:nvSpPr>
        <p:spPr>
          <a:xfrm>
            <a:off x="457200" y="201168"/>
            <a:ext cx="8229600" cy="182880"/>
          </a:xfrm>
          <a:prstGeom prst="rect">
            <a:avLst/>
          </a:prstGeom>
          <a:noFill/>
          <a:ln/>
        </p:spPr>
        <p:txBody>
          <a:bodyPr wrap="square" lIns="0" tIns="0" rIns="0" bIns="0" rtlCol="0" anchor="ctr"/>
          <a:lstStyle/>
          <a:p>
            <a:pPr marL="0" indent="0" algn="l">
              <a:buNone/>
            </a:pPr>
            <a:r>
              <a:rPr lang="en-US" sz="800" b="1" kern="0" spc="150" dirty="0">
                <a:solidFill>
                  <a:srgbClr val="888888"/>
                </a:solidFill>
                <a:latin typeface="Calibri" pitchFamily="34" charset="0"/>
                <a:ea typeface="Calibri" pitchFamily="34" charset="-122"/>
                <a:cs typeface="Calibri" pitchFamily="34" charset="-120"/>
              </a:rPr>
              <a:t>03  ·  BNG CALCULATION &amp; ENVIRONMENTAL IMPACT</a:t>
            </a:r>
            <a:endParaRPr lang="en-US" sz="800" dirty="0"/>
          </a:p>
        </p:txBody>
      </p:sp>
      <p:sp>
        <p:nvSpPr>
          <p:cNvPr id="4" name="Text 2"/>
          <p:cNvSpPr/>
          <p:nvPr/>
        </p:nvSpPr>
        <p:spPr>
          <a:xfrm>
            <a:off x="457200" y="457200"/>
            <a:ext cx="8321040" cy="502920"/>
          </a:xfrm>
          <a:prstGeom prst="rect">
            <a:avLst/>
          </a:prstGeom>
          <a:noFill/>
          <a:ln/>
        </p:spPr>
        <p:txBody>
          <a:bodyPr wrap="square" lIns="0" tIns="0" rIns="0" bIns="0" rtlCol="0" anchor="ctr"/>
          <a:lstStyle/>
          <a:p>
            <a:pPr marL="0" indent="0" algn="l">
              <a:buNone/>
            </a:pPr>
            <a:r>
              <a:rPr lang="en-US" sz="2400" b="1" dirty="0">
                <a:solidFill>
                  <a:srgbClr val="1A1F6B"/>
                </a:solidFill>
                <a:latin typeface="Cambria" pitchFamily="34" charset="0"/>
                <a:ea typeface="Cambria" pitchFamily="34" charset="-122"/>
                <a:cs typeface="Cambria" pitchFamily="34" charset="-120"/>
              </a:rPr>
              <a:t>The numbers are strong — but evidence of genuine impact requires more</a:t>
            </a:r>
            <a:endParaRPr lang="en-US" sz="2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078992"/>
          <a:ext cx="5029200" cy="1554480"/>
        </p:xfrm>
        <a:graphic>
          <a:graphicData uri="http://schemas.openxmlformats.org/drawingml/2006/table">
            <a:tbl>
              <a:tblPr/>
              <a:tblGrid>
                <a:gridCol w="192024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tblGrid>
              <a:tr h="310896">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Habitat</a:t>
                      </a:r>
                      <a:endParaRPr lang="en-US" sz="900" dirty="0">
                        <a:latin typeface="Calibri" charset="0"/>
                        <a:ea typeface="Calibri" charset="0"/>
                        <a:cs typeface="Calibri" charset="0"/>
                      </a:endParaRPr>
                    </a:p>
                  </a:txBody>
                  <a:tcP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solidFill>
                      <a:srgbClr val="1A1F6B"/>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Baseline Units</a:t>
                      </a:r>
                      <a:endParaRPr lang="en-US" sz="900" dirty="0">
                        <a:latin typeface="Calibri" charset="0"/>
                        <a:ea typeface="Calibri" charset="0"/>
                        <a:cs typeface="Calibri" charset="0"/>
                      </a:endParaRPr>
                    </a:p>
                  </a:txBody>
                  <a:tcP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solidFill>
                      <a:srgbClr val="1A1F6B"/>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Post-Restoration</a:t>
                      </a:r>
                      <a:endParaRPr lang="en-US" sz="900" dirty="0">
                        <a:latin typeface="Calibri" charset="0"/>
                        <a:ea typeface="Calibri" charset="0"/>
                        <a:cs typeface="Calibri" charset="0"/>
                      </a:endParaRPr>
                    </a:p>
                  </a:txBody>
                  <a:tcP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solidFill>
                      <a:srgbClr val="1A1F6B"/>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Net Gain</a:t>
                      </a:r>
                      <a:endParaRPr lang="en-US" sz="900" dirty="0">
                        <a:latin typeface="Calibri" charset="0"/>
                        <a:ea typeface="Calibri" charset="0"/>
                        <a:cs typeface="Calibri" charset="0"/>
                      </a:endParaRPr>
                    </a:p>
                  </a:txBody>
                  <a:tcP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solidFill>
                      <a:srgbClr val="1A1F6B"/>
                    </a:solidFill>
                  </a:tcPr>
                </a:tc>
                <a:extLst>
                  <a:ext uri="{0D108BD9-81ED-4DB2-BD59-A6C34878D82A}">
                    <a16:rowId xmlns:a16="http://schemas.microsoft.com/office/drawing/2014/main" val="10000"/>
                  </a:ext>
                </a:extLst>
              </a:tr>
              <a:tr h="310896">
                <a:tc>
                  <a:txBody>
                    <a:bodyPr/>
                    <a:lstStyle/>
                    <a:p>
                      <a:pPr marL="0" indent="0">
                        <a:buNone/>
                      </a:pPr>
                      <a:r>
                        <a:rPr lang="en-US" sz="900" dirty="0">
                          <a:solidFill>
                            <a:srgbClr val="555555"/>
                          </a:solidFill>
                          <a:latin typeface="Calibri" pitchFamily="34" charset="0"/>
                          <a:ea typeface="Calibri" pitchFamily="34" charset="-122"/>
                          <a:cs typeface="Calibri" pitchFamily="34" charset="-120"/>
                        </a:rPr>
                        <a:t>Area habitats (50 ha)</a:t>
                      </a:r>
                      <a:endParaRPr lang="en-US" sz="900" dirty="0">
                        <a:latin typeface="Calibri" charset="0"/>
                        <a:ea typeface="Calibri" charset="0"/>
                        <a:cs typeface="Calibri" charset="0"/>
                      </a:endParaRPr>
                    </a:p>
                  </a:txBody>
                  <a:tcP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tcPr>
                </a:tc>
                <a:tc>
                  <a:txBody>
                    <a:bodyPr/>
                    <a:lstStyle/>
                    <a:p>
                      <a:pPr marL="0" indent="0" algn="ctr">
                        <a:buNone/>
                      </a:pPr>
                      <a:r>
                        <a:rPr lang="en-US" sz="900" dirty="0">
                          <a:solidFill>
                            <a:srgbClr val="555555"/>
                          </a:solidFill>
                          <a:latin typeface="Calibri" pitchFamily="34" charset="0"/>
                          <a:ea typeface="Calibri" pitchFamily="34" charset="-122"/>
                          <a:cs typeface="Calibri" pitchFamily="34" charset="-120"/>
                        </a:rPr>
                        <a:t>100.00</a:t>
                      </a:r>
                      <a:endParaRPr lang="en-US" sz="900" dirty="0">
                        <a:latin typeface="Calibri" charset="0"/>
                        <a:ea typeface="Calibri" charset="0"/>
                        <a:cs typeface="Calibri" charset="0"/>
                      </a:endParaRPr>
                    </a:p>
                  </a:txBody>
                  <a:tcP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tcPr>
                </a:tc>
                <a:tc>
                  <a:txBody>
                    <a:bodyPr/>
                    <a:lstStyle/>
                    <a:p>
                      <a:pPr marL="0" indent="0" algn="ctr">
                        <a:buNone/>
                      </a:pPr>
                      <a:r>
                        <a:rPr lang="en-US" sz="900" dirty="0">
                          <a:solidFill>
                            <a:srgbClr val="555555"/>
                          </a:solidFill>
                          <a:latin typeface="Calibri" pitchFamily="34" charset="0"/>
                          <a:ea typeface="Calibri" pitchFamily="34" charset="-122"/>
                          <a:cs typeface="Calibri" pitchFamily="34" charset="-120"/>
                        </a:rPr>
                        <a:t>367.43</a:t>
                      </a:r>
                      <a:endParaRPr lang="en-US" sz="900" dirty="0">
                        <a:latin typeface="Calibri" charset="0"/>
                        <a:ea typeface="Calibri" charset="0"/>
                        <a:cs typeface="Calibri" charset="0"/>
                      </a:endParaRPr>
                    </a:p>
                  </a:txBody>
                  <a:tcP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tcPr>
                </a:tc>
                <a:tc>
                  <a:txBody>
                    <a:bodyPr/>
                    <a:lstStyle/>
                    <a:p>
                      <a:pPr marL="0" indent="0" algn="ctr">
                        <a:buNone/>
                      </a:pPr>
                      <a:r>
                        <a:rPr lang="en-US" sz="900" b="1" dirty="0">
                          <a:solidFill>
                            <a:srgbClr val="1B7A1B"/>
                          </a:solidFill>
                          <a:latin typeface="Calibri" pitchFamily="34" charset="0"/>
                          <a:ea typeface="Calibri" pitchFamily="34" charset="-122"/>
                          <a:cs typeface="Calibri" pitchFamily="34" charset="-120"/>
                        </a:rPr>
                        <a:t>+267.43  (267% area habitats)</a:t>
                      </a:r>
                      <a:endParaRPr lang="en-US" sz="900" dirty="0">
                        <a:latin typeface="Calibri" charset="0"/>
                        <a:ea typeface="Calibri" charset="0"/>
                        <a:cs typeface="Calibri" charset="0"/>
                      </a:endParaRPr>
                    </a:p>
                  </a:txBody>
                  <a:tcP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tcPr>
                </a:tc>
                <a:extLst>
                  <a:ext uri="{0D108BD9-81ED-4DB2-BD59-A6C34878D82A}">
                    <a16:rowId xmlns:a16="http://schemas.microsoft.com/office/drawing/2014/main" val="10001"/>
                  </a:ext>
                </a:extLst>
              </a:tr>
              <a:tr h="310896">
                <a:tc>
                  <a:txBody>
                    <a:bodyPr/>
                    <a:lstStyle/>
                    <a:p>
                      <a:pPr marL="0" indent="0">
                        <a:buNone/>
                      </a:pPr>
                      <a:r>
                        <a:rPr lang="en-US" sz="900" dirty="0">
                          <a:solidFill>
                            <a:srgbClr val="555555"/>
                          </a:solidFill>
                          <a:latin typeface="Calibri" pitchFamily="34" charset="0"/>
                          <a:ea typeface="Calibri" pitchFamily="34" charset="-122"/>
                          <a:cs typeface="Calibri" pitchFamily="34" charset="-120"/>
                        </a:rPr>
                        <a:t>Native hedgerow (2 km)</a:t>
                      </a:r>
                      <a:endParaRPr lang="en-US" sz="900" dirty="0">
                        <a:latin typeface="Calibri" charset="0"/>
                        <a:ea typeface="Calibri" charset="0"/>
                        <a:cs typeface="Calibri" charset="0"/>
                      </a:endParaRPr>
                    </a:p>
                  </a:txBody>
                  <a:tcP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tcPr>
                </a:tc>
                <a:tc>
                  <a:txBody>
                    <a:bodyPr/>
                    <a:lstStyle/>
                    <a:p>
                      <a:pPr marL="0" indent="0" algn="ctr">
                        <a:buNone/>
                      </a:pPr>
                      <a:r>
                        <a:rPr lang="en-US" sz="900" dirty="0">
                          <a:solidFill>
                            <a:srgbClr val="555555"/>
                          </a:solidFill>
                          <a:latin typeface="Calibri" pitchFamily="34" charset="0"/>
                          <a:ea typeface="Calibri" pitchFamily="34" charset="-122"/>
                          <a:cs typeface="Calibri" pitchFamily="34" charset="-120"/>
                        </a:rPr>
                        <a:t>16.00</a:t>
                      </a:r>
                      <a:endParaRPr lang="en-US" sz="900" dirty="0">
                        <a:latin typeface="Calibri" charset="0"/>
                        <a:ea typeface="Calibri" charset="0"/>
                        <a:cs typeface="Calibri" charset="0"/>
                      </a:endParaRPr>
                    </a:p>
                  </a:txBody>
                  <a:tcP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tcPr>
                </a:tc>
                <a:tc>
                  <a:txBody>
                    <a:bodyPr/>
                    <a:lstStyle/>
                    <a:p>
                      <a:pPr marL="0" indent="0" algn="ctr">
                        <a:buNone/>
                      </a:pPr>
                      <a:r>
                        <a:rPr lang="en-US" sz="900" dirty="0">
                          <a:solidFill>
                            <a:srgbClr val="555555"/>
                          </a:solidFill>
                          <a:latin typeface="Calibri" pitchFamily="34" charset="0"/>
                          <a:ea typeface="Calibri" pitchFamily="34" charset="-122"/>
                          <a:cs typeface="Calibri" pitchFamily="34" charset="-120"/>
                        </a:rPr>
                        <a:t>21.11</a:t>
                      </a:r>
                      <a:endParaRPr lang="en-US" sz="900" dirty="0">
                        <a:latin typeface="Calibri" charset="0"/>
                        <a:ea typeface="Calibri" charset="0"/>
                        <a:cs typeface="Calibri" charset="0"/>
                      </a:endParaRPr>
                    </a:p>
                  </a:txBody>
                  <a:tcP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tcPr>
                </a:tc>
                <a:tc>
                  <a:txBody>
                    <a:bodyPr/>
                    <a:lstStyle/>
                    <a:p>
                      <a:pPr marL="0" indent="0" algn="ctr">
                        <a:buNone/>
                      </a:pPr>
                      <a:r>
                        <a:rPr lang="en-US" sz="900" b="1" dirty="0">
                          <a:solidFill>
                            <a:srgbClr val="1B7A1B"/>
                          </a:solidFill>
                          <a:latin typeface="Calibri" pitchFamily="34" charset="0"/>
                          <a:ea typeface="Calibri" pitchFamily="34" charset="-122"/>
                          <a:cs typeface="Calibri" pitchFamily="34" charset="-120"/>
                        </a:rPr>
                        <a:t>+5.11  (32%)</a:t>
                      </a:r>
                      <a:endParaRPr lang="en-US" sz="900" dirty="0">
                        <a:latin typeface="Calibri" charset="0"/>
                        <a:ea typeface="Calibri" charset="0"/>
                        <a:cs typeface="Calibri" charset="0"/>
                      </a:endParaRPr>
                    </a:p>
                  </a:txBody>
                  <a:tcP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tcPr>
                </a:tc>
                <a:extLst>
                  <a:ext uri="{0D108BD9-81ED-4DB2-BD59-A6C34878D82A}">
                    <a16:rowId xmlns:a16="http://schemas.microsoft.com/office/drawing/2014/main" val="10002"/>
                  </a:ext>
                </a:extLst>
              </a:tr>
              <a:tr h="310896">
                <a:tc>
                  <a:txBody>
                    <a:bodyPr/>
                    <a:lstStyle/>
                    <a:p>
                      <a:pPr marL="0" indent="0">
                        <a:buNone/>
                      </a:pPr>
                      <a:r>
                        <a:rPr lang="en-US" sz="900" i="1" dirty="0">
                          <a:solidFill>
                            <a:srgbClr val="888888"/>
                          </a:solidFill>
                          <a:latin typeface="Calibri" pitchFamily="34" charset="0"/>
                          <a:ea typeface="Calibri" pitchFamily="34" charset="-122"/>
                          <a:cs typeface="Calibri" pitchFamily="34" charset="-120"/>
                        </a:rPr>
                        <a:t>10% statutory minimum</a:t>
                      </a:r>
                      <a:endParaRPr lang="en-US" sz="900" dirty="0">
                        <a:latin typeface="Calibri" charset="0"/>
                        <a:ea typeface="Calibri" charset="0"/>
                        <a:cs typeface="Calibri" charset="0"/>
                      </a:endParaRPr>
                    </a:p>
                  </a:txBody>
                  <a:tcP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tcPr>
                </a:tc>
                <a:tc>
                  <a:txBody>
                    <a:bodyPr/>
                    <a:lstStyle/>
                    <a:p>
                      <a:pPr marL="0" indent="0" algn="ctr">
                        <a:buNone/>
                      </a:pPr>
                      <a:r>
                        <a:rPr lang="en-US" sz="900" dirty="0">
                          <a:solidFill>
                            <a:srgbClr val="888888"/>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tcPr>
                </a:tc>
                <a:tc>
                  <a:txBody>
                    <a:bodyPr/>
                    <a:lstStyle/>
                    <a:p>
                      <a:pPr marL="0" indent="0" algn="ctr">
                        <a:buNone/>
                      </a:pPr>
                      <a:r>
                        <a:rPr lang="en-US" sz="900" i="1" dirty="0">
                          <a:solidFill>
                            <a:srgbClr val="888888"/>
                          </a:solidFill>
                          <a:latin typeface="Calibri" pitchFamily="34" charset="0"/>
                          <a:ea typeface="Calibri" pitchFamily="34" charset="-122"/>
                          <a:cs typeface="Calibri" pitchFamily="34" charset="-120"/>
                        </a:rPr>
                        <a:t>≥127.60 required</a:t>
                      </a:r>
                      <a:endParaRPr lang="en-US" sz="900" dirty="0">
                        <a:latin typeface="Calibri" charset="0"/>
                        <a:ea typeface="Calibri" charset="0"/>
                        <a:cs typeface="Calibri" charset="0"/>
                      </a:endParaRPr>
                    </a:p>
                  </a:txBody>
                  <a:tcP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tcPr>
                </a:tc>
                <a:tc>
                  <a:txBody>
                    <a:bodyPr/>
                    <a:lstStyle/>
                    <a:p>
                      <a:pPr marL="0" indent="0" algn="ctr">
                        <a:buNone/>
                      </a:pPr>
                      <a:r>
                        <a:rPr lang="en-US" sz="900" b="1" dirty="0">
                          <a:solidFill>
                            <a:srgbClr val="1B7A1B"/>
                          </a:solidFill>
                          <a:latin typeface="Calibri" pitchFamily="34" charset="0"/>
                          <a:ea typeface="Calibri" pitchFamily="34" charset="-122"/>
                          <a:cs typeface="Calibri" pitchFamily="34" charset="-120"/>
                        </a:rPr>
                        <a:t>✓  Exceeded</a:t>
                      </a:r>
                      <a:endParaRPr lang="en-US" sz="900" dirty="0">
                        <a:latin typeface="Calibri" charset="0"/>
                        <a:ea typeface="Calibri" charset="0"/>
                        <a:cs typeface="Calibri" charset="0"/>
                      </a:endParaRPr>
                    </a:p>
                  </a:txBody>
                  <a:tcP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tcPr>
                </a:tc>
                <a:extLst>
                  <a:ext uri="{0D108BD9-81ED-4DB2-BD59-A6C34878D82A}">
                    <a16:rowId xmlns:a16="http://schemas.microsoft.com/office/drawing/2014/main" val="10003"/>
                  </a:ext>
                </a:extLst>
              </a:tr>
              <a:tr h="310896">
                <a:tc>
                  <a:txBody>
                    <a:bodyPr/>
                    <a:lstStyle/>
                    <a:p>
                      <a:pPr marL="0" indent="0">
                        <a:buNone/>
                      </a:pPr>
                      <a:r>
                        <a:rPr lang="en-US" sz="900" b="1" dirty="0">
                          <a:solidFill>
                            <a:srgbClr val="1A1F6B"/>
                          </a:solidFill>
                          <a:latin typeface="Calibri" pitchFamily="34" charset="0"/>
                          <a:ea typeface="Calibri" pitchFamily="34" charset="-122"/>
                          <a:cs typeface="Calibri" pitchFamily="34" charset="-120"/>
                        </a:rPr>
                        <a:t>Surplus units for sale</a:t>
                      </a:r>
                      <a:endParaRPr lang="en-US" sz="900" dirty="0">
                        <a:latin typeface="Calibri" charset="0"/>
                        <a:ea typeface="Calibri" charset="0"/>
                        <a:cs typeface="Calibri" charset="0"/>
                      </a:endParaRPr>
                    </a:p>
                  </a:txBody>
                  <a:tcP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solidFill>
                      <a:srgbClr val="FFFDE7"/>
                    </a:solidFill>
                  </a:tcPr>
                </a:tc>
                <a:tc>
                  <a:txBody>
                    <a:bodyPr/>
                    <a:lstStyle/>
                    <a:p>
                      <a:pPr marL="0" indent="0">
                        <a:buNone/>
                      </a:pPr>
                      <a:endParaRPr lang="en-US" sz="1200" dirty="0"/>
                    </a:p>
                  </a:txBody>
                  <a:tcP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solidFill>
                      <a:srgbClr val="FFFDE7"/>
                    </a:solidFill>
                  </a:tcPr>
                </a:tc>
                <a:tc>
                  <a:txBody>
                    <a:bodyPr/>
                    <a:lstStyle/>
                    <a:p>
                      <a:pPr marL="0" indent="0">
                        <a:buNone/>
                      </a:pPr>
                      <a:endParaRPr lang="en-US" sz="1200" dirty="0"/>
                    </a:p>
                  </a:txBody>
                  <a:tcP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solidFill>
                      <a:srgbClr val="FFFDE7"/>
                    </a:solidFill>
                  </a:tcPr>
                </a:tc>
                <a:tc>
                  <a:txBody>
                    <a:bodyPr/>
                    <a:lstStyle/>
                    <a:p>
                      <a:pPr marL="0" indent="0" algn="ctr">
                        <a:buNone/>
                      </a:pPr>
                      <a:r>
                        <a:rPr lang="en-US" sz="900" b="1" dirty="0">
                          <a:solidFill>
                            <a:srgbClr val="1A1F6B"/>
                          </a:solidFill>
                          <a:latin typeface="Calibri" pitchFamily="34" charset="0"/>
                          <a:ea typeface="Calibri" pitchFamily="34" charset="-122"/>
                          <a:cs typeface="Calibri" pitchFamily="34" charset="-120"/>
                        </a:rPr>
                        <a:t>260.94 total surplus units</a:t>
                      </a:r>
                      <a:endParaRPr lang="en-US" sz="900" dirty="0">
                        <a:latin typeface="Calibri" charset="0"/>
                        <a:ea typeface="Calibri" charset="0"/>
                        <a:cs typeface="Calibri" charset="0"/>
                      </a:endParaRPr>
                    </a:p>
                  </a:txBody>
                  <a:tcP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solidFill>
                      <a:srgbClr val="FFFDE7"/>
                    </a:solidFill>
                  </a:tcPr>
                </a:tc>
                <a:extLst>
                  <a:ext uri="{0D108BD9-81ED-4DB2-BD59-A6C34878D82A}">
                    <a16:rowId xmlns:a16="http://schemas.microsoft.com/office/drawing/2014/main" val="10004"/>
                  </a:ext>
                </a:extLst>
              </a:tr>
            </a:tbl>
          </a:graphicData>
        </a:graphic>
      </p:graphicFrame>
      <p:sp>
        <p:nvSpPr>
          <p:cNvPr id="6" name="Text 3"/>
          <p:cNvSpPr/>
          <p:nvPr/>
        </p:nvSpPr>
        <p:spPr>
          <a:xfrm>
            <a:off x="457200" y="2907792"/>
            <a:ext cx="5029200" cy="228600"/>
          </a:xfrm>
          <a:prstGeom prst="rect">
            <a:avLst/>
          </a:prstGeom>
          <a:noFill/>
          <a:ln/>
        </p:spPr>
        <p:txBody>
          <a:bodyPr wrap="square" lIns="0" tIns="0" rIns="0" bIns="0" rtlCol="0" anchor="ctr"/>
          <a:lstStyle/>
          <a:p>
            <a:pPr marL="0" indent="0" algn="l">
              <a:buNone/>
            </a:pPr>
            <a:r>
              <a:rPr lang="en-US" sz="1100" b="1" dirty="0">
                <a:solidFill>
                  <a:srgbClr val="1A1F6B"/>
                </a:solidFill>
                <a:latin typeface="Calibri" pitchFamily="34" charset="0"/>
                <a:ea typeface="Calibri" pitchFamily="34" charset="-122"/>
                <a:cs typeface="Calibri" pitchFamily="34" charset="-120"/>
              </a:rPr>
              <a:t>What problem does this solve?</a:t>
            </a:r>
            <a:endParaRPr lang="en-US" sz="1100" dirty="0"/>
          </a:p>
        </p:txBody>
      </p:sp>
      <p:sp>
        <p:nvSpPr>
          <p:cNvPr id="7" name="Text 4"/>
          <p:cNvSpPr/>
          <p:nvPr/>
        </p:nvSpPr>
        <p:spPr>
          <a:xfrm>
            <a:off x="457200" y="3154680"/>
            <a:ext cx="5029200" cy="777240"/>
          </a:xfrm>
          <a:prstGeom prst="rect">
            <a:avLst/>
          </a:prstGeom>
          <a:noFill/>
          <a:ln/>
        </p:spPr>
        <p:txBody>
          <a:bodyPr wrap="square" lIns="0" tIns="0" rIns="0" bIns="0" rtlCol="0" anchor="t"/>
          <a:lstStyle/>
          <a:p>
            <a:pPr marL="0" indent="0" algn="l">
              <a:buNone/>
            </a:pPr>
            <a:r>
              <a:rPr lang="en-US" sz="1000" dirty="0">
                <a:solidFill>
                  <a:srgbClr val="555555"/>
                </a:solidFill>
                <a:latin typeface="Calibri" pitchFamily="34" charset="0"/>
                <a:ea typeface="Calibri" pitchFamily="34" charset="-122"/>
                <a:cs typeface="Calibri" pitchFamily="34" charset="-120"/>
              </a:rPr>
              <a:t>England has lost 19% of measured species abundance since 1970, with development erasing ~487 ha of priority habitat annually — against a £525bn global biodiversity finance gap (Savills, 2025). BNG internalises this cost as a binding 30-year planning condition, not a monetary transfer.</a:t>
            </a:r>
            <a:endParaRPr lang="en-US" sz="1000" dirty="0"/>
          </a:p>
        </p:txBody>
      </p:sp>
      <p:sp>
        <p:nvSpPr>
          <p:cNvPr id="8" name="Shape 5"/>
          <p:cNvSpPr/>
          <p:nvPr/>
        </p:nvSpPr>
        <p:spPr>
          <a:xfrm>
            <a:off x="5669280" y="1078992"/>
            <a:ext cx="3063240" cy="3310128"/>
          </a:xfrm>
          <a:prstGeom prst="roundRect">
            <a:avLst>
              <a:gd name="adj" fmla="val 1791"/>
            </a:avLst>
          </a:prstGeom>
          <a:solidFill>
            <a:srgbClr val="F7F8FF"/>
          </a:solidFill>
          <a:ln w="12700">
            <a:solidFill>
              <a:srgbClr val="DDE0F0"/>
            </a:solidFill>
            <a:prstDash val="solid"/>
          </a:ln>
          <a:effectLst>
            <a:outerShdw blurRad="101600" dist="25400" dir="2700000" algn="bl" rotWithShape="0">
              <a:srgbClr val="000000">
                <a:alpha val="8000"/>
              </a:srgbClr>
            </a:outerShdw>
          </a:effectLst>
        </p:spPr>
        <p:txBody>
          <a:bodyPr/>
          <a:lstStyle/>
          <a:p>
            <a:endParaRPr lang="en-GB"/>
          </a:p>
        </p:txBody>
      </p:sp>
      <p:sp>
        <p:nvSpPr>
          <p:cNvPr id="9" name="Text 6"/>
          <p:cNvSpPr/>
          <p:nvPr/>
        </p:nvSpPr>
        <p:spPr>
          <a:xfrm>
            <a:off x="5833872" y="1188720"/>
            <a:ext cx="2743200" cy="274320"/>
          </a:xfrm>
          <a:prstGeom prst="rect">
            <a:avLst/>
          </a:prstGeom>
          <a:noFill/>
          <a:ln/>
        </p:spPr>
        <p:txBody>
          <a:bodyPr wrap="square" lIns="0" tIns="0" rIns="0" bIns="0" rtlCol="0" anchor="ctr"/>
          <a:lstStyle/>
          <a:p>
            <a:pPr marL="0" indent="0" algn="l">
              <a:buNone/>
            </a:pPr>
            <a:r>
              <a:rPr lang="en-US" sz="1100" b="1" dirty="0">
                <a:solidFill>
                  <a:srgbClr val="1A1F6B"/>
                </a:solidFill>
                <a:latin typeface="Calibri" pitchFamily="34" charset="0"/>
                <a:ea typeface="Calibri" pitchFamily="34" charset="-122"/>
                <a:cs typeface="Calibri" pitchFamily="34" charset="-120"/>
              </a:rPr>
              <a:t>Evidence needed for genuine impact</a:t>
            </a:r>
            <a:endParaRPr lang="en-US" sz="1100" dirty="0"/>
          </a:p>
        </p:txBody>
      </p:sp>
      <p:sp>
        <p:nvSpPr>
          <p:cNvPr id="10" name="Shape 7"/>
          <p:cNvSpPr/>
          <p:nvPr/>
        </p:nvSpPr>
        <p:spPr>
          <a:xfrm>
            <a:off x="5833872" y="1554480"/>
            <a:ext cx="201168" cy="201168"/>
          </a:xfrm>
          <a:prstGeom prst="ellipse">
            <a:avLst/>
          </a:prstGeom>
          <a:solidFill>
            <a:srgbClr val="F5C800"/>
          </a:solidFill>
          <a:ln w="12700">
            <a:solidFill>
              <a:srgbClr val="F5C800"/>
            </a:solidFill>
            <a:prstDash val="solid"/>
          </a:ln>
        </p:spPr>
        <p:txBody>
          <a:bodyPr/>
          <a:lstStyle/>
          <a:p>
            <a:endParaRPr lang="en-GB"/>
          </a:p>
        </p:txBody>
      </p:sp>
      <p:sp>
        <p:nvSpPr>
          <p:cNvPr id="11" name="Text 8"/>
          <p:cNvSpPr/>
          <p:nvPr/>
        </p:nvSpPr>
        <p:spPr>
          <a:xfrm>
            <a:off x="6080760" y="1536192"/>
            <a:ext cx="2514600" cy="219456"/>
          </a:xfrm>
          <a:prstGeom prst="rect">
            <a:avLst/>
          </a:prstGeom>
          <a:noFill/>
          <a:ln/>
        </p:spPr>
        <p:txBody>
          <a:bodyPr wrap="square" lIns="0" tIns="0" rIns="0" bIns="0" rtlCol="0" anchor="ctr"/>
          <a:lstStyle/>
          <a:p>
            <a:pPr marL="0" indent="0" algn="l">
              <a:buNone/>
            </a:pPr>
            <a:r>
              <a:rPr lang="en-US" sz="950" b="1" dirty="0">
                <a:solidFill>
                  <a:srgbClr val="1A1F6B"/>
                </a:solidFill>
                <a:latin typeface="Calibri" pitchFamily="34" charset="0"/>
                <a:ea typeface="Calibri" pitchFamily="34" charset="-122"/>
                <a:cs typeface="Calibri" pitchFamily="34" charset="-120"/>
              </a:rPr>
              <a:t>Independent baselines</a:t>
            </a:r>
            <a:endParaRPr lang="en-US" sz="950" dirty="0"/>
          </a:p>
        </p:txBody>
      </p:sp>
      <p:sp>
        <p:nvSpPr>
          <p:cNvPr id="12" name="Text 9"/>
          <p:cNvSpPr/>
          <p:nvPr/>
        </p:nvSpPr>
        <p:spPr>
          <a:xfrm>
            <a:off x="6080760" y="1773936"/>
            <a:ext cx="2514600" cy="585216"/>
          </a:xfrm>
          <a:prstGeom prst="rect">
            <a:avLst/>
          </a:prstGeom>
          <a:noFill/>
          <a:ln/>
        </p:spPr>
        <p:txBody>
          <a:bodyPr wrap="square" lIns="0" tIns="0" rIns="0" bIns="0" rtlCol="0" anchor="t"/>
          <a:lstStyle/>
          <a:p>
            <a:pPr marL="0" indent="0" algn="l">
              <a:buNone/>
            </a:pPr>
            <a:r>
              <a:rPr lang="en-US" sz="850" dirty="0">
                <a:solidFill>
                  <a:srgbClr val="555555"/>
                </a:solidFill>
                <a:latin typeface="Calibri" pitchFamily="34" charset="0"/>
                <a:ea typeface="Calibri" pitchFamily="34" charset="-122"/>
                <a:cs typeface="Calibri" pitchFamily="34" charset="-120"/>
              </a:rPr>
              <a:t>Defra (2021) warned inconsistent Metric application creates manipulation risk. Surveys must be verified against control sites — not developer self-assessment.</a:t>
            </a:r>
            <a:endParaRPr lang="en-US" sz="850" dirty="0"/>
          </a:p>
        </p:txBody>
      </p:sp>
      <p:sp>
        <p:nvSpPr>
          <p:cNvPr id="13" name="Shape 10"/>
          <p:cNvSpPr/>
          <p:nvPr/>
        </p:nvSpPr>
        <p:spPr>
          <a:xfrm>
            <a:off x="5833872" y="2441448"/>
            <a:ext cx="201168" cy="201168"/>
          </a:xfrm>
          <a:prstGeom prst="ellipse">
            <a:avLst/>
          </a:prstGeom>
          <a:solidFill>
            <a:srgbClr val="F5C800"/>
          </a:solidFill>
          <a:ln w="12700">
            <a:solidFill>
              <a:srgbClr val="F5C800"/>
            </a:solidFill>
            <a:prstDash val="solid"/>
          </a:ln>
        </p:spPr>
        <p:txBody>
          <a:bodyPr/>
          <a:lstStyle/>
          <a:p>
            <a:endParaRPr lang="en-GB"/>
          </a:p>
        </p:txBody>
      </p:sp>
      <p:sp>
        <p:nvSpPr>
          <p:cNvPr id="14" name="Text 11"/>
          <p:cNvSpPr/>
          <p:nvPr/>
        </p:nvSpPr>
        <p:spPr>
          <a:xfrm>
            <a:off x="6080760" y="2423160"/>
            <a:ext cx="2514600" cy="219456"/>
          </a:xfrm>
          <a:prstGeom prst="rect">
            <a:avLst/>
          </a:prstGeom>
          <a:noFill/>
          <a:ln/>
        </p:spPr>
        <p:txBody>
          <a:bodyPr wrap="square" lIns="0" tIns="0" rIns="0" bIns="0" rtlCol="0" anchor="ctr"/>
          <a:lstStyle/>
          <a:p>
            <a:pPr marL="0" indent="0" algn="l">
              <a:buNone/>
            </a:pPr>
            <a:r>
              <a:rPr lang="en-US" sz="950" b="1" dirty="0">
                <a:solidFill>
                  <a:srgbClr val="1A1F6B"/>
                </a:solidFill>
                <a:latin typeface="Calibri" pitchFamily="34" charset="0"/>
                <a:ea typeface="Calibri" pitchFamily="34" charset="-122"/>
                <a:cs typeface="Calibri" pitchFamily="34" charset="-120"/>
              </a:rPr>
              <a:t>Species monitoring</a:t>
            </a:r>
            <a:endParaRPr lang="en-US" sz="950" dirty="0"/>
          </a:p>
        </p:txBody>
      </p:sp>
      <p:sp>
        <p:nvSpPr>
          <p:cNvPr id="15" name="Text 12"/>
          <p:cNvSpPr/>
          <p:nvPr/>
        </p:nvSpPr>
        <p:spPr>
          <a:xfrm>
            <a:off x="6080760" y="2660904"/>
            <a:ext cx="2514600" cy="585216"/>
          </a:xfrm>
          <a:prstGeom prst="rect">
            <a:avLst/>
          </a:prstGeom>
          <a:noFill/>
          <a:ln/>
        </p:spPr>
        <p:txBody>
          <a:bodyPr wrap="square" lIns="0" tIns="0" rIns="0" bIns="0" rtlCol="0" anchor="t"/>
          <a:lstStyle/>
          <a:p>
            <a:pPr marL="0" indent="0" algn="l">
              <a:buNone/>
            </a:pPr>
            <a:r>
              <a:rPr lang="en-US" sz="850" dirty="0">
                <a:solidFill>
                  <a:srgbClr val="555555"/>
                </a:solidFill>
                <a:latin typeface="Calibri" pitchFamily="34" charset="0"/>
                <a:ea typeface="Calibri" pitchFamily="34" charset="-122"/>
                <a:cs typeface="Calibri" pitchFamily="34" charset="-120"/>
              </a:rPr>
              <a:t>Longitudinal tracking of indicator species across the full 30-year obligation, not habitat proxies alone.</a:t>
            </a:r>
            <a:endParaRPr lang="en-US" sz="850" dirty="0"/>
          </a:p>
        </p:txBody>
      </p:sp>
      <p:sp>
        <p:nvSpPr>
          <p:cNvPr id="16" name="Shape 13"/>
          <p:cNvSpPr/>
          <p:nvPr/>
        </p:nvSpPr>
        <p:spPr>
          <a:xfrm>
            <a:off x="5833872" y="3328416"/>
            <a:ext cx="201168" cy="201168"/>
          </a:xfrm>
          <a:prstGeom prst="ellipse">
            <a:avLst/>
          </a:prstGeom>
          <a:solidFill>
            <a:srgbClr val="F5C800"/>
          </a:solidFill>
          <a:ln w="12700">
            <a:solidFill>
              <a:srgbClr val="F5C800"/>
            </a:solidFill>
            <a:prstDash val="solid"/>
          </a:ln>
        </p:spPr>
        <p:txBody>
          <a:bodyPr/>
          <a:lstStyle/>
          <a:p>
            <a:endParaRPr lang="en-GB"/>
          </a:p>
        </p:txBody>
      </p:sp>
      <p:sp>
        <p:nvSpPr>
          <p:cNvPr id="17" name="Text 14"/>
          <p:cNvSpPr/>
          <p:nvPr/>
        </p:nvSpPr>
        <p:spPr>
          <a:xfrm>
            <a:off x="6080760" y="3310128"/>
            <a:ext cx="2514600" cy="219456"/>
          </a:xfrm>
          <a:prstGeom prst="rect">
            <a:avLst/>
          </a:prstGeom>
          <a:noFill/>
          <a:ln/>
        </p:spPr>
        <p:txBody>
          <a:bodyPr wrap="square" lIns="0" tIns="0" rIns="0" bIns="0" rtlCol="0" anchor="ctr"/>
          <a:lstStyle/>
          <a:p>
            <a:pPr marL="0" indent="0" algn="l">
              <a:buNone/>
            </a:pPr>
            <a:r>
              <a:rPr lang="en-US" sz="950" b="1" dirty="0">
                <a:solidFill>
                  <a:srgbClr val="1A1F6B"/>
                </a:solidFill>
                <a:latin typeface="Calibri" pitchFamily="34" charset="0"/>
                <a:ea typeface="Calibri" pitchFamily="34" charset="-122"/>
                <a:cs typeface="Calibri" pitchFamily="34" charset="-120"/>
              </a:rPr>
              <a:t>Additionality proof</a:t>
            </a:r>
            <a:endParaRPr lang="en-US" sz="950" dirty="0"/>
          </a:p>
        </p:txBody>
      </p:sp>
      <p:sp>
        <p:nvSpPr>
          <p:cNvPr id="18" name="Text 15"/>
          <p:cNvSpPr/>
          <p:nvPr/>
        </p:nvSpPr>
        <p:spPr>
          <a:xfrm>
            <a:off x="6080760" y="3547872"/>
            <a:ext cx="2514600" cy="585216"/>
          </a:xfrm>
          <a:prstGeom prst="rect">
            <a:avLst/>
          </a:prstGeom>
          <a:noFill/>
          <a:ln/>
        </p:spPr>
        <p:txBody>
          <a:bodyPr wrap="square" lIns="0" tIns="0" rIns="0" bIns="0" rtlCol="0" anchor="t"/>
          <a:lstStyle/>
          <a:p>
            <a:pPr marL="0" indent="0" algn="l">
              <a:buNone/>
            </a:pPr>
            <a:r>
              <a:rPr lang="en-US" sz="850" dirty="0">
                <a:solidFill>
                  <a:srgbClr val="555555"/>
                </a:solidFill>
                <a:latin typeface="Calibri" pitchFamily="34" charset="0"/>
                <a:ea typeface="Calibri" pitchFamily="34" charset="-122"/>
                <a:cs typeface="Calibri" pitchFamily="34" charset="-120"/>
              </a:rPr>
              <a:t>Wunder et al. (BSE, 2025) identify baseline gaming as the central integrity failure in global offset markets. Credits must prove habitat uplift would not occur without BNG finance.</a:t>
            </a:r>
            <a:endParaRPr lang="en-US" sz="850" dirty="0"/>
          </a:p>
        </p:txBody>
      </p:sp>
      <p:sp>
        <p:nvSpPr>
          <p:cNvPr id="19" name="Shape 16"/>
          <p:cNvSpPr/>
          <p:nvPr/>
        </p:nvSpPr>
        <p:spPr>
          <a:xfrm>
            <a:off x="457200" y="4005072"/>
            <a:ext cx="5029200" cy="804672"/>
          </a:xfrm>
          <a:prstGeom prst="roundRect">
            <a:avLst>
              <a:gd name="adj" fmla="val 5682"/>
            </a:avLst>
          </a:prstGeom>
          <a:solidFill>
            <a:srgbClr val="FFF3E0"/>
          </a:solidFill>
          <a:ln w="12700">
            <a:solidFill>
              <a:srgbClr val="FFB74D"/>
            </a:solidFill>
            <a:prstDash val="solid"/>
          </a:ln>
        </p:spPr>
        <p:txBody>
          <a:bodyPr/>
          <a:lstStyle/>
          <a:p>
            <a:endParaRPr lang="en-GB"/>
          </a:p>
        </p:txBody>
      </p:sp>
      <p:sp>
        <p:nvSpPr>
          <p:cNvPr id="20" name="Text 17"/>
          <p:cNvSpPr/>
          <p:nvPr/>
        </p:nvSpPr>
        <p:spPr>
          <a:xfrm>
            <a:off x="621792" y="4059936"/>
            <a:ext cx="4709160" cy="694944"/>
          </a:xfrm>
          <a:prstGeom prst="rect">
            <a:avLst/>
          </a:prstGeom>
          <a:noFill/>
          <a:ln/>
        </p:spPr>
        <p:txBody>
          <a:bodyPr wrap="square" lIns="0" tIns="0" rIns="0" bIns="0" rtlCol="0" anchor="t"/>
          <a:lstStyle/>
          <a:p>
            <a:pPr marL="0" indent="0" algn="l">
              <a:buNone/>
            </a:pPr>
            <a:r>
              <a:rPr lang="en-US" sz="850" dirty="0">
                <a:solidFill>
                  <a:srgbClr val="5D4037"/>
                </a:solidFill>
                <a:latin typeface="Calibri" pitchFamily="34" charset="0"/>
                <a:ea typeface="Calibri" pitchFamily="34" charset="-122"/>
                <a:cs typeface="Calibri" pitchFamily="34" charset="-120"/>
              </a:rPr>
              <a:t>⚠  Key commercial risk: Revenue concentrated in Year 3. Downside case (£12k/unit, Year 4 delay, +20% costs) peaks at £334,000 cumulative deficit before Year 4 recovery — requiring equity or blended finance bridge. The April 2026 small-site exemption reduces off-site unit demand by ~10%. HBF: 84% of developers found BNG challenging; 60% abandoned sites due to cost pressures (rising to 70% in the Midlands).</a:t>
            </a:r>
            <a:endParaRPr lang="en-US" sz="850" dirty="0"/>
          </a:p>
        </p:txBody>
      </p:sp>
      <p:sp>
        <p:nvSpPr>
          <p:cNvPr id="21" name="Shape 18"/>
          <p:cNvSpPr/>
          <p:nvPr/>
        </p:nvSpPr>
        <p:spPr>
          <a:xfrm>
            <a:off x="457200" y="4974336"/>
            <a:ext cx="8229600" cy="0"/>
          </a:xfrm>
          <a:prstGeom prst="line">
            <a:avLst/>
          </a:prstGeom>
          <a:noFill/>
          <a:ln w="6350">
            <a:solidFill>
              <a:srgbClr val="DDE0F0"/>
            </a:solidFill>
            <a:prstDash val="solid"/>
          </a:ln>
        </p:spPr>
        <p:txBody>
          <a:bodyPr/>
          <a:lstStyle/>
          <a:p>
            <a:endParaRPr lang="en-GB"/>
          </a:p>
        </p:txBody>
      </p:sp>
      <p:sp>
        <p:nvSpPr>
          <p:cNvPr id="22" name="Text 19"/>
          <p:cNvSpPr/>
          <p:nvPr/>
        </p:nvSpPr>
        <p:spPr>
          <a:xfrm>
            <a:off x="457200" y="5001768"/>
            <a:ext cx="8229600" cy="137160"/>
          </a:xfrm>
          <a:prstGeom prst="rect">
            <a:avLst/>
          </a:prstGeom>
          <a:noFill/>
          <a:ln/>
        </p:spPr>
        <p:txBody>
          <a:bodyPr wrap="square" lIns="0" tIns="0" rIns="0" bIns="0" rtlCol="0" anchor="ctr"/>
          <a:lstStyle/>
          <a:p>
            <a:pPr marL="0" indent="0" algn="l">
              <a:buNone/>
            </a:pPr>
            <a:r>
              <a:rPr lang="en-US" sz="700" dirty="0">
                <a:solidFill>
                  <a:srgbClr val="888888"/>
                </a:solidFill>
                <a:latin typeface="Calibri" pitchFamily="34" charset="0"/>
                <a:ea typeface="Calibri" pitchFamily="34" charset="-122"/>
                <a:cs typeface="Calibri" pitchFamily="34" charset="-120"/>
              </a:rPr>
              <a:t>Source: ICfS BNG Financial Model; Defra (2021); Wunder et al. (2025); Savills (2025); HBF Sentiment Survey (2026); ESG BNG Report (2026)</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F5C800"/>
          </a:solidFill>
          <a:ln w="12700">
            <a:solidFill>
              <a:srgbClr val="F5C800"/>
            </a:solidFill>
            <a:prstDash val="solid"/>
          </a:ln>
        </p:spPr>
        <p:txBody>
          <a:bodyPr/>
          <a:lstStyle/>
          <a:p>
            <a:endParaRPr lang="en-GB"/>
          </a:p>
        </p:txBody>
      </p:sp>
      <p:sp>
        <p:nvSpPr>
          <p:cNvPr id="3" name="Text 1"/>
          <p:cNvSpPr/>
          <p:nvPr/>
        </p:nvSpPr>
        <p:spPr>
          <a:xfrm>
            <a:off x="457200" y="201168"/>
            <a:ext cx="8229600" cy="182880"/>
          </a:xfrm>
          <a:prstGeom prst="rect">
            <a:avLst/>
          </a:prstGeom>
          <a:noFill/>
          <a:ln/>
        </p:spPr>
        <p:txBody>
          <a:bodyPr wrap="square" lIns="0" tIns="0" rIns="0" bIns="0" rtlCol="0" anchor="ctr"/>
          <a:lstStyle/>
          <a:p>
            <a:pPr marL="0" indent="0" algn="l">
              <a:buNone/>
            </a:pPr>
            <a:r>
              <a:rPr lang="en-US" sz="800" b="1" kern="0" spc="150" dirty="0">
                <a:solidFill>
                  <a:srgbClr val="888888"/>
                </a:solidFill>
                <a:latin typeface="Calibri" pitchFamily="34" charset="0"/>
                <a:ea typeface="Calibri" pitchFamily="34" charset="-122"/>
                <a:cs typeface="Calibri" pitchFamily="34" charset="-120"/>
              </a:rPr>
              <a:t>04  ·  INDIA SCALABILITY ASSESSMENT</a:t>
            </a:r>
            <a:endParaRPr lang="en-US" sz="800" dirty="0"/>
          </a:p>
        </p:txBody>
      </p:sp>
      <p:sp>
        <p:nvSpPr>
          <p:cNvPr id="4" name="Text 2"/>
          <p:cNvSpPr/>
          <p:nvPr/>
        </p:nvSpPr>
        <p:spPr>
          <a:xfrm>
            <a:off x="457200" y="457200"/>
            <a:ext cx="8321040" cy="502920"/>
          </a:xfrm>
          <a:prstGeom prst="rect">
            <a:avLst/>
          </a:prstGeom>
          <a:noFill/>
          <a:ln/>
        </p:spPr>
        <p:txBody>
          <a:bodyPr wrap="square" lIns="0" tIns="0" rIns="0" bIns="0" rtlCol="0" anchor="ctr"/>
          <a:lstStyle/>
          <a:p>
            <a:pPr marL="0" indent="0" algn="l">
              <a:buNone/>
            </a:pPr>
            <a:r>
              <a:rPr lang="en-US" sz="2400" b="1" dirty="0">
                <a:solidFill>
                  <a:srgbClr val="1A1F6B"/>
                </a:solidFill>
                <a:latin typeface="Cambria" pitchFamily="34" charset="0"/>
                <a:ea typeface="Cambria" pitchFamily="34" charset="-122"/>
                <a:cs typeface="Cambria" pitchFamily="34" charset="-120"/>
              </a:rPr>
              <a:t>Direct replication is not viable — but a Compliance-PPP model is</a:t>
            </a:r>
            <a:endParaRPr lang="en-US" sz="2400" dirty="0"/>
          </a:p>
        </p:txBody>
      </p:sp>
      <p:sp>
        <p:nvSpPr>
          <p:cNvPr id="5" name="Text 3"/>
          <p:cNvSpPr/>
          <p:nvPr/>
        </p:nvSpPr>
        <p:spPr>
          <a:xfrm>
            <a:off x="457200" y="1097280"/>
            <a:ext cx="3931920" cy="201168"/>
          </a:xfrm>
          <a:prstGeom prst="rect">
            <a:avLst/>
          </a:prstGeom>
          <a:noFill/>
          <a:ln/>
        </p:spPr>
        <p:txBody>
          <a:bodyPr wrap="square" lIns="0" tIns="0" rIns="0" bIns="0" rtlCol="0" anchor="ctr"/>
          <a:lstStyle/>
          <a:p>
            <a:pPr marL="0" indent="0" algn="l">
              <a:buNone/>
            </a:pPr>
            <a:r>
              <a:rPr lang="en-US" sz="800" b="1" kern="0" spc="120" dirty="0">
                <a:solidFill>
                  <a:srgbClr val="888888"/>
                </a:solidFill>
                <a:latin typeface="Calibri" pitchFamily="34" charset="0"/>
                <a:ea typeface="Calibri" pitchFamily="34" charset="-122"/>
                <a:cs typeface="Calibri" pitchFamily="34" charset="-120"/>
              </a:rPr>
              <a:t>WHY DIRECT REPLICATION FAILS</a:t>
            </a:r>
            <a:endParaRPr lang="en-US" sz="800" dirty="0"/>
          </a:p>
        </p:txBody>
      </p:sp>
      <p:sp>
        <p:nvSpPr>
          <p:cNvPr id="6" name="Shape 4"/>
          <p:cNvSpPr/>
          <p:nvPr/>
        </p:nvSpPr>
        <p:spPr>
          <a:xfrm>
            <a:off x="457200" y="1371600"/>
            <a:ext cx="3931920" cy="731520"/>
          </a:xfrm>
          <a:prstGeom prst="roundRect">
            <a:avLst>
              <a:gd name="adj" fmla="val 6250"/>
            </a:avLst>
          </a:prstGeom>
          <a:solidFill>
            <a:srgbClr val="FFF3F3"/>
          </a:solidFill>
          <a:ln w="12700">
            <a:solidFill>
              <a:srgbClr val="FFCDD2"/>
            </a:solidFill>
            <a:prstDash val="solid"/>
          </a:ln>
        </p:spPr>
        <p:txBody>
          <a:bodyPr/>
          <a:lstStyle/>
          <a:p>
            <a:endParaRPr lang="en-GB"/>
          </a:p>
        </p:txBody>
      </p:sp>
      <p:sp>
        <p:nvSpPr>
          <p:cNvPr id="7" name="Text 5"/>
          <p:cNvSpPr/>
          <p:nvPr/>
        </p:nvSpPr>
        <p:spPr>
          <a:xfrm>
            <a:off x="621792" y="1444752"/>
            <a:ext cx="3611880" cy="201168"/>
          </a:xfrm>
          <a:prstGeom prst="rect">
            <a:avLst/>
          </a:prstGeom>
          <a:noFill/>
          <a:ln/>
        </p:spPr>
        <p:txBody>
          <a:bodyPr wrap="square" lIns="0" tIns="0" rIns="0" bIns="0" rtlCol="0" anchor="ctr"/>
          <a:lstStyle/>
          <a:p>
            <a:pPr marL="0" indent="0" algn="l">
              <a:buNone/>
            </a:pPr>
            <a:r>
              <a:rPr lang="en-US" sz="1000" b="1" dirty="0">
                <a:solidFill>
                  <a:srgbClr val="C62828"/>
                </a:solidFill>
                <a:latin typeface="Calibri" pitchFamily="34" charset="0"/>
                <a:ea typeface="Calibri" pitchFamily="34" charset="-122"/>
                <a:cs typeface="Calibri" pitchFamily="34" charset="-120"/>
              </a:rPr>
              <a:t>Land fragmentation</a:t>
            </a:r>
            <a:endParaRPr lang="en-US" sz="1000" dirty="0"/>
          </a:p>
        </p:txBody>
      </p:sp>
      <p:sp>
        <p:nvSpPr>
          <p:cNvPr id="8" name="Text 6"/>
          <p:cNvSpPr/>
          <p:nvPr/>
        </p:nvSpPr>
        <p:spPr>
          <a:xfrm>
            <a:off x="621792" y="1645920"/>
            <a:ext cx="3611880" cy="402336"/>
          </a:xfrm>
          <a:prstGeom prst="rect">
            <a:avLst/>
          </a:prstGeom>
          <a:noFill/>
          <a:ln/>
        </p:spPr>
        <p:txBody>
          <a:bodyPr wrap="square" lIns="0" tIns="0" rIns="0" bIns="0" rtlCol="0" anchor="t"/>
          <a:lstStyle/>
          <a:p>
            <a:pPr marL="0" indent="0" algn="l">
              <a:buNone/>
            </a:pPr>
            <a:r>
              <a:rPr lang="en-US" sz="850" dirty="0">
                <a:solidFill>
                  <a:srgbClr val="555555"/>
                </a:solidFill>
                <a:latin typeface="Calibri" pitchFamily="34" charset="0"/>
                <a:ea typeface="Calibri" pitchFamily="34" charset="-122"/>
                <a:cs typeface="Calibri" pitchFamily="34" charset="-120"/>
              </a:rPr>
              <a:t>Aggregating 50–100 ha for 30 years is practically impossible given smallholder plots, title disputes, and holdout risk.</a:t>
            </a:r>
            <a:endParaRPr lang="en-US" sz="850" dirty="0"/>
          </a:p>
        </p:txBody>
      </p:sp>
      <p:sp>
        <p:nvSpPr>
          <p:cNvPr id="9" name="Shape 7"/>
          <p:cNvSpPr/>
          <p:nvPr/>
        </p:nvSpPr>
        <p:spPr>
          <a:xfrm>
            <a:off x="457200" y="2212848"/>
            <a:ext cx="3931920" cy="731520"/>
          </a:xfrm>
          <a:prstGeom prst="roundRect">
            <a:avLst>
              <a:gd name="adj" fmla="val 6250"/>
            </a:avLst>
          </a:prstGeom>
          <a:solidFill>
            <a:srgbClr val="FFF3F3"/>
          </a:solidFill>
          <a:ln w="12700">
            <a:solidFill>
              <a:srgbClr val="FFCDD2"/>
            </a:solidFill>
            <a:prstDash val="solid"/>
          </a:ln>
        </p:spPr>
        <p:txBody>
          <a:bodyPr/>
          <a:lstStyle/>
          <a:p>
            <a:endParaRPr lang="en-GB"/>
          </a:p>
        </p:txBody>
      </p:sp>
      <p:sp>
        <p:nvSpPr>
          <p:cNvPr id="10" name="Text 8"/>
          <p:cNvSpPr/>
          <p:nvPr/>
        </p:nvSpPr>
        <p:spPr>
          <a:xfrm>
            <a:off x="621792" y="2286000"/>
            <a:ext cx="3611880" cy="201168"/>
          </a:xfrm>
          <a:prstGeom prst="rect">
            <a:avLst/>
          </a:prstGeom>
          <a:noFill/>
          <a:ln/>
        </p:spPr>
        <p:txBody>
          <a:bodyPr wrap="square" lIns="0" tIns="0" rIns="0" bIns="0" rtlCol="0" anchor="ctr"/>
          <a:lstStyle/>
          <a:p>
            <a:pPr marL="0" indent="0" algn="l">
              <a:buNone/>
            </a:pPr>
            <a:r>
              <a:rPr lang="en-US" sz="1000" b="1" dirty="0">
                <a:solidFill>
                  <a:srgbClr val="C62828"/>
                </a:solidFill>
                <a:latin typeface="Calibri" pitchFamily="34" charset="0"/>
                <a:ea typeface="Calibri" pitchFamily="34" charset="-122"/>
                <a:cs typeface="Calibri" pitchFamily="34" charset="-120"/>
              </a:rPr>
              <a:t>De-marketised GCP</a:t>
            </a:r>
            <a:endParaRPr lang="en-US" sz="1000" dirty="0"/>
          </a:p>
        </p:txBody>
      </p:sp>
      <p:sp>
        <p:nvSpPr>
          <p:cNvPr id="11" name="Text 9"/>
          <p:cNvSpPr/>
          <p:nvPr/>
        </p:nvSpPr>
        <p:spPr>
          <a:xfrm>
            <a:off x="621792" y="2487168"/>
            <a:ext cx="3611880" cy="402336"/>
          </a:xfrm>
          <a:prstGeom prst="rect">
            <a:avLst/>
          </a:prstGeom>
          <a:noFill/>
          <a:ln/>
        </p:spPr>
        <p:txBody>
          <a:bodyPr wrap="square" lIns="0" tIns="0" rIns="0" bIns="0" rtlCol="0" anchor="t"/>
          <a:lstStyle/>
          <a:p>
            <a:pPr marL="0" indent="0" algn="l">
              <a:buNone/>
            </a:pPr>
            <a:r>
              <a:rPr lang="en-US" sz="850" dirty="0">
                <a:solidFill>
                  <a:srgbClr val="555555"/>
                </a:solidFill>
                <a:latin typeface="Calibri" pitchFamily="34" charset="0"/>
                <a:ea typeface="Calibri" pitchFamily="34" charset="-122"/>
                <a:cs typeface="Calibri" pitchFamily="34" charset="-120"/>
              </a:rPr>
              <a:t>August 2025 Green Credit Rules made credits non-tradable except for CA compliance — eliminating the speculative market the UK model requires.</a:t>
            </a:r>
            <a:endParaRPr lang="en-US" sz="850" dirty="0"/>
          </a:p>
        </p:txBody>
      </p:sp>
      <p:sp>
        <p:nvSpPr>
          <p:cNvPr id="12" name="Shape 10"/>
          <p:cNvSpPr/>
          <p:nvPr/>
        </p:nvSpPr>
        <p:spPr>
          <a:xfrm>
            <a:off x="457200" y="3054096"/>
            <a:ext cx="3931920" cy="731520"/>
          </a:xfrm>
          <a:prstGeom prst="roundRect">
            <a:avLst>
              <a:gd name="adj" fmla="val 6250"/>
            </a:avLst>
          </a:prstGeom>
          <a:solidFill>
            <a:srgbClr val="FFF3F3"/>
          </a:solidFill>
          <a:ln w="12700">
            <a:solidFill>
              <a:srgbClr val="FFCDD2"/>
            </a:solidFill>
            <a:prstDash val="solid"/>
          </a:ln>
        </p:spPr>
        <p:txBody>
          <a:bodyPr/>
          <a:lstStyle/>
          <a:p>
            <a:endParaRPr lang="en-GB"/>
          </a:p>
        </p:txBody>
      </p:sp>
      <p:sp>
        <p:nvSpPr>
          <p:cNvPr id="13" name="Text 11"/>
          <p:cNvSpPr/>
          <p:nvPr/>
        </p:nvSpPr>
        <p:spPr>
          <a:xfrm>
            <a:off x="621792" y="3127248"/>
            <a:ext cx="3611880" cy="201168"/>
          </a:xfrm>
          <a:prstGeom prst="rect">
            <a:avLst/>
          </a:prstGeom>
          <a:noFill/>
          <a:ln/>
        </p:spPr>
        <p:txBody>
          <a:bodyPr wrap="square" lIns="0" tIns="0" rIns="0" bIns="0" rtlCol="0" anchor="ctr"/>
          <a:lstStyle/>
          <a:p>
            <a:pPr marL="0" indent="0" algn="l">
              <a:buNone/>
            </a:pPr>
            <a:r>
              <a:rPr lang="en-US" sz="1000" b="1" dirty="0">
                <a:solidFill>
                  <a:srgbClr val="C62828"/>
                </a:solidFill>
                <a:latin typeface="Calibri" pitchFamily="34" charset="0"/>
                <a:ea typeface="Calibri" pitchFamily="34" charset="-122"/>
                <a:cs typeface="Calibri" pitchFamily="34" charset="-120"/>
              </a:rPr>
              <a:t>No compelled demand</a:t>
            </a:r>
            <a:endParaRPr lang="en-US" sz="1000" dirty="0"/>
          </a:p>
        </p:txBody>
      </p:sp>
      <p:sp>
        <p:nvSpPr>
          <p:cNvPr id="14" name="Text 12"/>
          <p:cNvSpPr/>
          <p:nvPr/>
        </p:nvSpPr>
        <p:spPr>
          <a:xfrm>
            <a:off x="621792" y="3328416"/>
            <a:ext cx="3611880" cy="402336"/>
          </a:xfrm>
          <a:prstGeom prst="rect">
            <a:avLst/>
          </a:prstGeom>
          <a:noFill/>
          <a:ln/>
        </p:spPr>
        <p:txBody>
          <a:bodyPr wrap="square" lIns="0" tIns="0" rIns="0" bIns="0" rtlCol="0" anchor="t"/>
          <a:lstStyle/>
          <a:p>
            <a:pPr marL="0" indent="0" algn="l">
              <a:buNone/>
            </a:pPr>
            <a:r>
              <a:rPr lang="en-US" sz="850" dirty="0">
                <a:solidFill>
                  <a:srgbClr val="555555"/>
                </a:solidFill>
                <a:latin typeface="Calibri" pitchFamily="34" charset="0"/>
                <a:ea typeface="Calibri" pitchFamily="34" charset="-122"/>
                <a:cs typeface="Calibri" pitchFamily="34" charset="-120"/>
              </a:rPr>
              <a:t>Without a mandatory metric-driven offset mandate, there is no legally compelled developer buyer base to generate revenue.</a:t>
            </a:r>
            <a:endParaRPr lang="en-US" sz="850" dirty="0"/>
          </a:p>
        </p:txBody>
      </p:sp>
      <p:sp>
        <p:nvSpPr>
          <p:cNvPr id="15" name="Shape 13"/>
          <p:cNvSpPr/>
          <p:nvPr/>
        </p:nvSpPr>
        <p:spPr>
          <a:xfrm>
            <a:off x="4663440" y="1097280"/>
            <a:ext cx="4023360" cy="2761488"/>
          </a:xfrm>
          <a:prstGeom prst="roundRect">
            <a:avLst>
              <a:gd name="adj" fmla="val 2649"/>
            </a:avLst>
          </a:prstGeom>
          <a:solidFill>
            <a:srgbClr val="1A1F6B"/>
          </a:solidFill>
          <a:ln w="12700">
            <a:solidFill>
              <a:srgbClr val="1A1F6B"/>
            </a:solidFill>
            <a:prstDash val="solid"/>
          </a:ln>
          <a:effectLst>
            <a:outerShdw blurRad="101600" dist="25400" dir="2700000" algn="bl" rotWithShape="0">
              <a:srgbClr val="000000">
                <a:alpha val="8000"/>
              </a:srgbClr>
            </a:outerShdw>
          </a:effectLst>
        </p:spPr>
        <p:txBody>
          <a:bodyPr/>
          <a:lstStyle/>
          <a:p>
            <a:endParaRPr lang="en-GB"/>
          </a:p>
        </p:txBody>
      </p:sp>
      <p:sp>
        <p:nvSpPr>
          <p:cNvPr id="16" name="Text 14"/>
          <p:cNvSpPr/>
          <p:nvPr/>
        </p:nvSpPr>
        <p:spPr>
          <a:xfrm>
            <a:off x="4846320" y="1216152"/>
            <a:ext cx="3703320" cy="182880"/>
          </a:xfrm>
          <a:prstGeom prst="rect">
            <a:avLst/>
          </a:prstGeom>
          <a:noFill/>
          <a:ln/>
        </p:spPr>
        <p:txBody>
          <a:bodyPr wrap="square" lIns="0" tIns="0" rIns="0" bIns="0" rtlCol="0" anchor="ctr"/>
          <a:lstStyle/>
          <a:p>
            <a:pPr marL="0" indent="0" algn="l">
              <a:buNone/>
            </a:pPr>
            <a:r>
              <a:rPr lang="en-US" sz="800" b="1" kern="0" spc="120" dirty="0">
                <a:solidFill>
                  <a:srgbClr val="F5C800"/>
                </a:solidFill>
                <a:latin typeface="Calibri" pitchFamily="34" charset="0"/>
                <a:ea typeface="Calibri" pitchFamily="34" charset="-122"/>
                <a:cs typeface="Calibri" pitchFamily="34" charset="-120"/>
              </a:rPr>
              <a:t>THE COMPLIANCE-PPP ALTERNATIVE</a:t>
            </a:r>
            <a:endParaRPr lang="en-US" sz="800" dirty="0"/>
          </a:p>
        </p:txBody>
      </p:sp>
      <p:sp>
        <p:nvSpPr>
          <p:cNvPr id="17" name="Shape 15"/>
          <p:cNvSpPr/>
          <p:nvPr/>
        </p:nvSpPr>
        <p:spPr>
          <a:xfrm>
            <a:off x="4846320" y="1545336"/>
            <a:ext cx="164592" cy="164592"/>
          </a:xfrm>
          <a:prstGeom prst="ellipse">
            <a:avLst/>
          </a:prstGeom>
          <a:solidFill>
            <a:srgbClr val="F5C800"/>
          </a:solidFill>
          <a:ln w="12700">
            <a:solidFill>
              <a:srgbClr val="F5C800"/>
            </a:solidFill>
            <a:prstDash val="solid"/>
          </a:ln>
        </p:spPr>
        <p:txBody>
          <a:bodyPr/>
          <a:lstStyle/>
          <a:p>
            <a:endParaRPr lang="en-GB"/>
          </a:p>
        </p:txBody>
      </p:sp>
      <p:sp>
        <p:nvSpPr>
          <p:cNvPr id="18" name="Text 16"/>
          <p:cNvSpPr/>
          <p:nvPr/>
        </p:nvSpPr>
        <p:spPr>
          <a:xfrm>
            <a:off x="5074920" y="1508760"/>
            <a:ext cx="3429000" cy="219456"/>
          </a:xfrm>
          <a:prstGeom prst="rect">
            <a:avLst/>
          </a:prstGeom>
          <a:noFill/>
          <a:ln/>
        </p:spPr>
        <p:txBody>
          <a:bodyPr wrap="square" lIns="0" tIns="0" rIns="0" bIns="0" rtlCol="0" anchor="ctr"/>
          <a:lstStyle/>
          <a:p>
            <a:pPr marL="0" indent="0" algn="l">
              <a:buNone/>
            </a:pPr>
            <a:r>
              <a:rPr lang="en-US" sz="950" b="1" dirty="0">
                <a:solidFill>
                  <a:srgbClr val="FFFFFF"/>
                </a:solidFill>
                <a:latin typeface="Calibri" pitchFamily="34" charset="0"/>
                <a:ea typeface="Calibri" pitchFamily="34" charset="-122"/>
                <a:cs typeface="Calibri" pitchFamily="34" charset="-120"/>
              </a:rPr>
              <a:t>Land resolved through state custody</a:t>
            </a:r>
            <a:endParaRPr lang="en-US" sz="950" dirty="0"/>
          </a:p>
        </p:txBody>
      </p:sp>
      <p:sp>
        <p:nvSpPr>
          <p:cNvPr id="19" name="Text 17"/>
          <p:cNvSpPr/>
          <p:nvPr/>
        </p:nvSpPr>
        <p:spPr>
          <a:xfrm>
            <a:off x="5074920" y="1737360"/>
            <a:ext cx="3429000" cy="457200"/>
          </a:xfrm>
          <a:prstGeom prst="rect">
            <a:avLst/>
          </a:prstGeom>
          <a:noFill/>
          <a:ln/>
        </p:spPr>
        <p:txBody>
          <a:bodyPr wrap="square" lIns="0" tIns="0" rIns="0" bIns="0" rtlCol="0" anchor="t"/>
          <a:lstStyle/>
          <a:p>
            <a:pPr marL="0" indent="0" algn="l">
              <a:buNone/>
            </a:pPr>
            <a:r>
              <a:rPr lang="en-US" sz="850" dirty="0">
                <a:solidFill>
                  <a:srgbClr val="9AA0D0"/>
                </a:solidFill>
                <a:latin typeface="Calibri" pitchFamily="34" charset="0"/>
                <a:ea typeface="Calibri" pitchFamily="34" charset="-122"/>
                <a:cs typeface="Calibri" pitchFamily="34" charset="-120"/>
              </a:rPr>
              <a:t>GCP uses State Forest Dept degraded parcels: Gujarat (975 ha), MP (640 ha), Assam (454 ha) — no private aggregation needed.</a:t>
            </a:r>
            <a:endParaRPr lang="en-US" sz="850" dirty="0"/>
          </a:p>
        </p:txBody>
      </p:sp>
      <p:sp>
        <p:nvSpPr>
          <p:cNvPr id="20" name="Shape 18"/>
          <p:cNvSpPr/>
          <p:nvPr/>
        </p:nvSpPr>
        <p:spPr>
          <a:xfrm>
            <a:off x="4846320" y="2295144"/>
            <a:ext cx="164592" cy="164592"/>
          </a:xfrm>
          <a:prstGeom prst="ellipse">
            <a:avLst/>
          </a:prstGeom>
          <a:solidFill>
            <a:srgbClr val="F5C800"/>
          </a:solidFill>
          <a:ln w="12700">
            <a:solidFill>
              <a:srgbClr val="F5C800"/>
            </a:solidFill>
            <a:prstDash val="solid"/>
          </a:ln>
        </p:spPr>
        <p:txBody>
          <a:bodyPr/>
          <a:lstStyle/>
          <a:p>
            <a:endParaRPr lang="en-GB"/>
          </a:p>
        </p:txBody>
      </p:sp>
      <p:sp>
        <p:nvSpPr>
          <p:cNvPr id="21" name="Text 19"/>
          <p:cNvSpPr/>
          <p:nvPr/>
        </p:nvSpPr>
        <p:spPr>
          <a:xfrm>
            <a:off x="5074920" y="2258568"/>
            <a:ext cx="3429000" cy="219456"/>
          </a:xfrm>
          <a:prstGeom prst="rect">
            <a:avLst/>
          </a:prstGeom>
          <a:noFill/>
          <a:ln/>
        </p:spPr>
        <p:txBody>
          <a:bodyPr wrap="square" lIns="0" tIns="0" rIns="0" bIns="0" rtlCol="0" anchor="ctr"/>
          <a:lstStyle/>
          <a:p>
            <a:pPr marL="0" indent="0" algn="l">
              <a:buNone/>
            </a:pPr>
            <a:r>
              <a:rPr lang="en-US" sz="950" b="1" dirty="0">
                <a:solidFill>
                  <a:srgbClr val="FFFFFF"/>
                </a:solidFill>
                <a:latin typeface="Calibri" pitchFamily="34" charset="0"/>
                <a:ea typeface="Calibri" pitchFamily="34" charset="-122"/>
                <a:cs typeface="Calibri" pitchFamily="34" charset="-120"/>
              </a:rPr>
              <a:t>Three compliance buyer segments</a:t>
            </a:r>
            <a:endParaRPr lang="en-US" sz="950" dirty="0"/>
          </a:p>
        </p:txBody>
      </p:sp>
      <p:sp>
        <p:nvSpPr>
          <p:cNvPr id="22" name="Text 20"/>
          <p:cNvSpPr/>
          <p:nvPr/>
        </p:nvSpPr>
        <p:spPr>
          <a:xfrm>
            <a:off x="5074920" y="2487168"/>
            <a:ext cx="3429000" cy="457200"/>
          </a:xfrm>
          <a:prstGeom prst="rect">
            <a:avLst/>
          </a:prstGeom>
          <a:noFill/>
          <a:ln/>
        </p:spPr>
        <p:txBody>
          <a:bodyPr wrap="square" lIns="0" tIns="0" rIns="0" bIns="0" rtlCol="0" anchor="t"/>
          <a:lstStyle/>
          <a:p>
            <a:pPr marL="0" indent="0" algn="l">
              <a:buNone/>
            </a:pPr>
            <a:r>
              <a:rPr lang="en-US" sz="850" dirty="0">
                <a:solidFill>
                  <a:srgbClr val="9AA0D0"/>
                </a:solidFill>
                <a:latin typeface="Calibri" pitchFamily="34" charset="0"/>
                <a:ea typeface="Calibri" pitchFamily="34" charset="-122"/>
                <a:cs typeface="Calibri" pitchFamily="34" charset="-120"/>
              </a:rPr>
              <a:t>CA obligations (Forest Conservation Act 1980), CSR mandates (Companies Act 2013), SEBI BRSR requirements for top 1,000 listed entities.</a:t>
            </a:r>
            <a:endParaRPr lang="en-US" sz="850" dirty="0"/>
          </a:p>
        </p:txBody>
      </p:sp>
      <p:sp>
        <p:nvSpPr>
          <p:cNvPr id="23" name="Shape 21"/>
          <p:cNvSpPr/>
          <p:nvPr/>
        </p:nvSpPr>
        <p:spPr>
          <a:xfrm>
            <a:off x="4846320" y="3044952"/>
            <a:ext cx="164592" cy="164592"/>
          </a:xfrm>
          <a:prstGeom prst="ellipse">
            <a:avLst/>
          </a:prstGeom>
          <a:solidFill>
            <a:srgbClr val="F5C800"/>
          </a:solidFill>
          <a:ln w="12700">
            <a:solidFill>
              <a:srgbClr val="F5C800"/>
            </a:solidFill>
            <a:prstDash val="solid"/>
          </a:ln>
        </p:spPr>
        <p:txBody>
          <a:bodyPr/>
          <a:lstStyle/>
          <a:p>
            <a:endParaRPr lang="en-GB"/>
          </a:p>
        </p:txBody>
      </p:sp>
      <p:sp>
        <p:nvSpPr>
          <p:cNvPr id="24" name="Text 22"/>
          <p:cNvSpPr/>
          <p:nvPr/>
        </p:nvSpPr>
        <p:spPr>
          <a:xfrm>
            <a:off x="5074920" y="3008376"/>
            <a:ext cx="3429000" cy="219456"/>
          </a:xfrm>
          <a:prstGeom prst="rect">
            <a:avLst/>
          </a:prstGeom>
          <a:noFill/>
          <a:ln/>
        </p:spPr>
        <p:txBody>
          <a:bodyPr wrap="square" lIns="0" tIns="0" rIns="0" bIns="0" rtlCol="0" anchor="ctr"/>
          <a:lstStyle/>
          <a:p>
            <a:pPr marL="0" indent="0" algn="l">
              <a:buNone/>
            </a:pPr>
            <a:r>
              <a:rPr lang="en-US" sz="950" b="1" dirty="0">
                <a:solidFill>
                  <a:srgbClr val="FFFFFF"/>
                </a:solidFill>
                <a:latin typeface="Calibri" pitchFamily="34" charset="0"/>
                <a:ea typeface="Calibri" pitchFamily="34" charset="-122"/>
                <a:cs typeface="Calibri" pitchFamily="34" charset="-120"/>
              </a:rPr>
              <a:t>Fastest-growing market</a:t>
            </a:r>
            <a:endParaRPr lang="en-US" sz="950" dirty="0"/>
          </a:p>
        </p:txBody>
      </p:sp>
      <p:sp>
        <p:nvSpPr>
          <p:cNvPr id="25" name="Text 23"/>
          <p:cNvSpPr/>
          <p:nvPr/>
        </p:nvSpPr>
        <p:spPr>
          <a:xfrm>
            <a:off x="5074920" y="3236976"/>
            <a:ext cx="3429000" cy="457200"/>
          </a:xfrm>
          <a:prstGeom prst="rect">
            <a:avLst/>
          </a:prstGeom>
          <a:noFill/>
          <a:ln/>
        </p:spPr>
        <p:txBody>
          <a:bodyPr wrap="square" lIns="0" tIns="0" rIns="0" bIns="0" rtlCol="0" anchor="t"/>
          <a:lstStyle/>
          <a:p>
            <a:pPr marL="0" indent="0" algn="l">
              <a:buNone/>
            </a:pPr>
            <a:r>
              <a:rPr lang="en-US" sz="850" dirty="0">
                <a:solidFill>
                  <a:srgbClr val="9AA0D0"/>
                </a:solidFill>
                <a:latin typeface="Calibri" pitchFamily="34" charset="0"/>
                <a:ea typeface="Calibri" pitchFamily="34" charset="-122"/>
                <a:cs typeface="Calibri" pitchFamily="34" charset="-120"/>
              </a:rPr>
              <a:t>India's biodiversity credit market projected at 34.2% CAGR through 2036 — the highest nationally — driven by ESG adoption and biological richness (Fact.MR, 2026).</a:t>
            </a:r>
            <a:endParaRPr lang="en-US" sz="850" dirty="0"/>
          </a:p>
        </p:txBody>
      </p:sp>
      <p:sp>
        <p:nvSpPr>
          <p:cNvPr id="26" name="Shape 24"/>
          <p:cNvSpPr/>
          <p:nvPr/>
        </p:nvSpPr>
        <p:spPr>
          <a:xfrm>
            <a:off x="457200" y="4005072"/>
            <a:ext cx="4069080" cy="841248"/>
          </a:xfrm>
          <a:prstGeom prst="roundRect">
            <a:avLst>
              <a:gd name="adj" fmla="val 5435"/>
            </a:avLst>
          </a:prstGeom>
          <a:solidFill>
            <a:srgbClr val="FFF3E0"/>
          </a:solidFill>
          <a:ln w="12700">
            <a:solidFill>
              <a:srgbClr val="FFB74D"/>
            </a:solidFill>
            <a:prstDash val="solid"/>
          </a:ln>
        </p:spPr>
        <p:txBody>
          <a:bodyPr/>
          <a:lstStyle/>
          <a:p>
            <a:endParaRPr lang="en-GB"/>
          </a:p>
        </p:txBody>
      </p:sp>
      <p:sp>
        <p:nvSpPr>
          <p:cNvPr id="27" name="Text 25"/>
          <p:cNvSpPr/>
          <p:nvPr/>
        </p:nvSpPr>
        <p:spPr>
          <a:xfrm>
            <a:off x="594360" y="4078224"/>
            <a:ext cx="3794760" cy="201168"/>
          </a:xfrm>
          <a:prstGeom prst="rect">
            <a:avLst/>
          </a:prstGeom>
          <a:noFill/>
          <a:ln/>
        </p:spPr>
        <p:txBody>
          <a:bodyPr wrap="square" lIns="0" tIns="0" rIns="0" bIns="0" rtlCol="0" anchor="ctr"/>
          <a:lstStyle/>
          <a:p>
            <a:pPr marL="0" indent="0" algn="l">
              <a:buNone/>
            </a:pPr>
            <a:r>
              <a:rPr lang="en-US" sz="950" b="1" dirty="0">
                <a:solidFill>
                  <a:srgbClr val="5D4037"/>
                </a:solidFill>
                <a:latin typeface="Calibri" pitchFamily="34" charset="0"/>
                <a:ea typeface="Calibri" pitchFamily="34" charset="-122"/>
                <a:cs typeface="Calibri" pitchFamily="34" charset="-120"/>
              </a:rPr>
              <a:t>Critical ecological risk</a:t>
            </a:r>
            <a:endParaRPr lang="en-US" sz="950" dirty="0"/>
          </a:p>
        </p:txBody>
      </p:sp>
      <p:sp>
        <p:nvSpPr>
          <p:cNvPr id="28" name="Text 26"/>
          <p:cNvSpPr/>
          <p:nvPr/>
        </p:nvSpPr>
        <p:spPr>
          <a:xfrm>
            <a:off x="594360" y="4279392"/>
            <a:ext cx="3794760" cy="512064"/>
          </a:xfrm>
          <a:prstGeom prst="rect">
            <a:avLst/>
          </a:prstGeom>
          <a:noFill/>
          <a:ln/>
        </p:spPr>
        <p:txBody>
          <a:bodyPr wrap="square" lIns="0" tIns="0" rIns="0" bIns="0" rtlCol="0" anchor="t"/>
          <a:lstStyle/>
          <a:p>
            <a:pPr marL="0" indent="0" algn="l">
              <a:buNone/>
            </a:pPr>
            <a:r>
              <a:rPr lang="en-US" sz="850" dirty="0">
                <a:solidFill>
                  <a:srgbClr val="5D4037"/>
                </a:solidFill>
                <a:latin typeface="Calibri" pitchFamily="34" charset="0"/>
                <a:ea typeface="Calibri" pitchFamily="34" charset="-122"/>
                <a:cs typeface="Calibri" pitchFamily="34" charset="-120"/>
              </a:rPr>
              <a:t>~70% of India's Open Natural Ecosystems (grasslands, savannas) are misclassified as degraded land — at risk of inappropriate afforestation under 40% canopy targets.</a:t>
            </a:r>
            <a:endParaRPr lang="en-US" sz="850" dirty="0"/>
          </a:p>
        </p:txBody>
      </p:sp>
      <p:sp>
        <p:nvSpPr>
          <p:cNvPr id="29" name="Shape 27"/>
          <p:cNvSpPr/>
          <p:nvPr/>
        </p:nvSpPr>
        <p:spPr>
          <a:xfrm>
            <a:off x="4892040" y="4005072"/>
            <a:ext cx="4069080" cy="841248"/>
          </a:xfrm>
          <a:prstGeom prst="roundRect">
            <a:avLst>
              <a:gd name="adj" fmla="val 5435"/>
            </a:avLst>
          </a:prstGeom>
          <a:solidFill>
            <a:srgbClr val="E8EAF6"/>
          </a:solidFill>
          <a:ln w="12700">
            <a:solidFill>
              <a:srgbClr val="C5C8E8"/>
            </a:solidFill>
            <a:prstDash val="solid"/>
          </a:ln>
        </p:spPr>
        <p:txBody>
          <a:bodyPr/>
          <a:lstStyle/>
          <a:p>
            <a:endParaRPr lang="en-GB"/>
          </a:p>
        </p:txBody>
      </p:sp>
      <p:sp>
        <p:nvSpPr>
          <p:cNvPr id="30" name="Text 28"/>
          <p:cNvSpPr/>
          <p:nvPr/>
        </p:nvSpPr>
        <p:spPr>
          <a:xfrm>
            <a:off x="5029200" y="4078224"/>
            <a:ext cx="3794760" cy="201168"/>
          </a:xfrm>
          <a:prstGeom prst="rect">
            <a:avLst/>
          </a:prstGeom>
          <a:noFill/>
          <a:ln/>
        </p:spPr>
        <p:txBody>
          <a:bodyPr wrap="square" lIns="0" tIns="0" rIns="0" bIns="0" rtlCol="0" anchor="ctr"/>
          <a:lstStyle/>
          <a:p>
            <a:pPr marL="0" indent="0" algn="l">
              <a:buNone/>
            </a:pPr>
            <a:r>
              <a:rPr lang="en-US" sz="950" b="1" dirty="0">
                <a:solidFill>
                  <a:srgbClr val="1A1F6B"/>
                </a:solidFill>
                <a:latin typeface="Calibri" pitchFamily="34" charset="0"/>
                <a:ea typeface="Calibri" pitchFamily="34" charset="-122"/>
                <a:cs typeface="Calibri" pitchFamily="34" charset="-120"/>
              </a:rPr>
              <a:t>Preconditions before pilot</a:t>
            </a:r>
            <a:endParaRPr lang="en-US" sz="950" dirty="0"/>
          </a:p>
        </p:txBody>
      </p:sp>
      <p:sp>
        <p:nvSpPr>
          <p:cNvPr id="31" name="Text 29"/>
          <p:cNvSpPr/>
          <p:nvPr/>
        </p:nvSpPr>
        <p:spPr>
          <a:xfrm>
            <a:off x="5029200" y="4279392"/>
            <a:ext cx="3794760" cy="512064"/>
          </a:xfrm>
          <a:prstGeom prst="rect">
            <a:avLst/>
          </a:prstGeom>
          <a:noFill/>
          <a:ln/>
        </p:spPr>
        <p:txBody>
          <a:bodyPr wrap="square" lIns="0" tIns="0" rIns="0" bIns="0" rtlCol="0" anchor="t"/>
          <a:lstStyle/>
          <a:p>
            <a:pPr marL="0" indent="0" algn="l">
              <a:buNone/>
            </a:pPr>
            <a:r>
              <a:rPr lang="en-US" sz="850" dirty="0">
                <a:solidFill>
                  <a:srgbClr val="1A1F6B"/>
                </a:solidFill>
                <a:latin typeface="Calibri" pitchFamily="34" charset="0"/>
                <a:ea typeface="Calibri" pitchFamily="34" charset="-122"/>
                <a:cs typeface="Calibri" pitchFamily="34" charset="-120"/>
              </a:rPr>
              <a:t>Grassland protocols with Wildlife Institute of India  ·  FPIC templates under Forest Rights Act 2006  ·  Legal clarity on carbon/green credit stacking  ·  State-level DNO audit</a:t>
            </a:r>
            <a:endParaRPr lang="en-US" sz="850" dirty="0"/>
          </a:p>
        </p:txBody>
      </p:sp>
      <p:sp>
        <p:nvSpPr>
          <p:cNvPr id="32" name="Shape 30"/>
          <p:cNvSpPr/>
          <p:nvPr/>
        </p:nvSpPr>
        <p:spPr>
          <a:xfrm>
            <a:off x="457200" y="4974336"/>
            <a:ext cx="8229600" cy="0"/>
          </a:xfrm>
          <a:prstGeom prst="line">
            <a:avLst/>
          </a:prstGeom>
          <a:noFill/>
          <a:ln w="6350">
            <a:solidFill>
              <a:srgbClr val="DDE0F0"/>
            </a:solidFill>
            <a:prstDash val="solid"/>
          </a:ln>
        </p:spPr>
        <p:txBody>
          <a:bodyPr/>
          <a:lstStyle/>
          <a:p>
            <a:endParaRPr lang="en-GB"/>
          </a:p>
        </p:txBody>
      </p:sp>
      <p:sp>
        <p:nvSpPr>
          <p:cNvPr id="33" name="Text 31"/>
          <p:cNvSpPr/>
          <p:nvPr/>
        </p:nvSpPr>
        <p:spPr>
          <a:xfrm>
            <a:off x="457200" y="5001768"/>
            <a:ext cx="8229600" cy="137160"/>
          </a:xfrm>
          <a:prstGeom prst="rect">
            <a:avLst/>
          </a:prstGeom>
          <a:noFill/>
          <a:ln/>
        </p:spPr>
        <p:txBody>
          <a:bodyPr wrap="square" lIns="0" tIns="0" rIns="0" bIns="0" rtlCol="0" anchor="ctr"/>
          <a:lstStyle/>
          <a:p>
            <a:pPr marL="0" indent="0" algn="l">
              <a:buNone/>
            </a:pPr>
            <a:r>
              <a:rPr lang="en-US" sz="700" dirty="0">
                <a:solidFill>
                  <a:srgbClr val="888888"/>
                </a:solidFill>
                <a:latin typeface="Calibri" pitchFamily="34" charset="0"/>
                <a:ea typeface="Calibri" pitchFamily="34" charset="-122"/>
                <a:cs typeface="Calibri" pitchFamily="34" charset="-120"/>
              </a:rPr>
              <a:t>Source: India Green Credit Rules 2025 (MoEFCC); Fact.MR (2026); ESG BNG Report (2026); Companies Act 2013; Forest Conservation Act 1980; Forest Rights Act 2006; CISL (April 2026)</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999</Words>
  <Application>Microsoft Office PowerPoint</Application>
  <PresentationFormat>On-screen Show (16:9)</PresentationFormat>
  <Paragraphs>92</Paragraphs>
  <Slides>4</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Calibri</vt:lpstr>
      <vt:lpstr>Cambria</vt:lpstr>
      <vt:lpstr>Office Theme</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UK BNG: Commercial Viability &amp; India Scalability — ICfS</dc:title>
  <dc:subject>PptxGenJS Presentation</dc:subject>
  <dc:creator>PptxGenJS</dc:creator>
  <cp:lastModifiedBy>David Ayuuya Ayeliga</cp:lastModifiedBy>
  <cp:revision>1</cp:revision>
  <dcterms:created xsi:type="dcterms:W3CDTF">2026-06-19T07:20:50Z</dcterms:created>
  <dcterms:modified xsi:type="dcterms:W3CDTF">2026-06-25T08:35:41Z</dcterms:modified>
</cp:coreProperties>
</file>